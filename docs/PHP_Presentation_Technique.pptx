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Cliquez pour déplacer la diapo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Cliquez pour modifier le format des notes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&lt;en-tête&gt;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7A6F61ED-43B7-437C-A3A8-3F8FA66A05D2}" type="slidenum"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&lt;numéro&gt;</a:t>
            </a:fld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0F9239F-C17C-46B4-882D-909ECFA5EE0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496CBF-2CAF-4AA1-BD5C-AE8251FC15D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1E458AD-E099-40FE-A358-1B0D580F850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866641-13E8-4263-9DA7-AE10380EE96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B029E0B-EDFA-4AE6-929F-B2EA382BC50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58A986E-7EA5-4CE2-965A-C32BB1064CE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9EED91A-8F85-4BFA-939F-3BC2BE9B1B6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6FB432E-EEC4-4321-93B5-CCE80C01878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D2FBFE-BC00-4D5B-8ECC-D441610DE41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789DA20-A94E-4414-B2A9-A224FC8051D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FB03223-0FB5-4FAC-900C-1AD439BA0A5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153254-D506-43B1-A445-ED9AA640F1C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Cliquez pour éditer le format du texte-titre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5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Cliquez pour éditer le format du plan de texte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400" spc="-1" strike="noStrike">
                <a:solidFill>
                  <a:schemeClr val="dk1"/>
                </a:solidFill>
                <a:latin typeface="Calibri"/>
              </a:rPr>
              <a:t>Second niveau de plan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Troisième niveau de plan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Quatrième niveau de plan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Cinquième niveau de plan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Sixième niveau de plan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Septième niveau de plan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-914400" y="-914400"/>
            <a:ext cx="3657240" cy="3657240"/>
          </a:xfrm>
          <a:prstGeom prst="ellipse">
            <a:avLst/>
          </a:prstGeom>
          <a:solidFill>
            <a:srgbClr val="1d4ed8">
              <a:alpha val="15000"/>
            </a:srgbClr>
          </a:solidFill>
          <a:ln w="12700">
            <a:solidFill>
              <a:srgbClr val="1d4ed8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6858000" y="2743200"/>
            <a:ext cx="3657240" cy="365724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4572000" y="-457200"/>
            <a:ext cx="1828440" cy="1828440"/>
          </a:xfrm>
          <a:prstGeom prst="ellipse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>
                <a:alpha val="2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548640" y="457200"/>
            <a:ext cx="1462680" cy="502560"/>
          </a:xfrm>
          <a:prstGeom prst="roundRect">
            <a:avLst>
              <a:gd name="adj" fmla="val 18182"/>
            </a:avLst>
          </a:prstGeom>
          <a:solidFill>
            <a:srgbClr val="1d4ed8"/>
          </a:solidFill>
          <a:ln w="12700">
            <a:solidFill>
              <a:srgbClr val="1d4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548640" y="457200"/>
            <a:ext cx="1462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PHP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548640" y="1188720"/>
            <a:ext cx="8046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ea5e9"/>
                </a:solidFill>
                <a:latin typeface="Calibri"/>
              </a:rPr>
              <a:t>Présentation Technique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548640" y="1737360"/>
            <a:ext cx="804636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Fonctions Avancées</a:t>
            </a:r>
            <a:endParaRPr b="0" lang="fr-FR" sz="4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&amp; Gestion de Dépendances</a:t>
            </a:r>
            <a:endParaRPr b="0" lang="fr-FR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548640" y="3566160"/>
            <a:ext cx="2651400" cy="411120"/>
          </a:xfrm>
          <a:prstGeom prst="roundRect">
            <a:avLst>
              <a:gd name="adj" fmla="val 17778"/>
            </a:avLst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8"/>
          <p:cNvSpPr/>
          <p:nvPr/>
        </p:nvSpPr>
        <p:spPr>
          <a:xfrm>
            <a:off x="548640" y="3566160"/>
            <a:ext cx="2651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Fonctions Anonymes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3429000" y="3566160"/>
            <a:ext cx="2651400" cy="411120"/>
          </a:xfrm>
          <a:prstGeom prst="roundRect">
            <a:avLst>
              <a:gd name="adj" fmla="val 17778"/>
            </a:avLst>
          </a:prstGeom>
          <a:solidFill>
            <a:srgbClr val="7c3aed">
              <a:alpha val="25000"/>
            </a:srgbClr>
          </a:solidFill>
          <a:ln w="12700">
            <a:solidFill>
              <a:srgbClr val="7c3aed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3429000" y="3566160"/>
            <a:ext cx="2651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Arrow Functions &amp; Closures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6309360" y="3566160"/>
            <a:ext cx="2651400" cy="411120"/>
          </a:xfrm>
          <a:prstGeom prst="roundRect">
            <a:avLst>
              <a:gd name="adj" fmla="val 17778"/>
            </a:avLst>
          </a:prstGeom>
          <a:solidFill>
            <a:srgbClr val="10b981">
              <a:alpha val="25000"/>
            </a:srgbClr>
          </a:solidFill>
          <a:ln w="12700">
            <a:solidFill>
              <a:srgbClr val="10b981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6309360" y="3566160"/>
            <a:ext cx="2651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Fonctions array_*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548640" y="4160520"/>
            <a:ext cx="2651400" cy="411120"/>
          </a:xfrm>
          <a:prstGeom prst="roundRect">
            <a:avLst>
              <a:gd name="adj" fmla="val 17778"/>
            </a:avLst>
          </a:prstGeom>
          <a:solidFill>
            <a:srgbClr val="f59e0b">
              <a:alpha val="25000"/>
            </a:srgbClr>
          </a:solidFill>
          <a:ln w="12700">
            <a:solidFill>
              <a:srgbClr val="f59e0b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548640" y="4160520"/>
            <a:ext cx="2651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Composer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3429000" y="4160520"/>
            <a:ext cx="2651400" cy="411120"/>
          </a:xfrm>
          <a:prstGeom prst="roundRect">
            <a:avLst>
              <a:gd name="adj" fmla="val 17778"/>
            </a:avLst>
          </a:prstGeom>
          <a:solidFill>
            <a:srgbClr val="0ea5e9">
              <a:alpha val="25000"/>
            </a:srgbClr>
          </a:solidFill>
          <a:ln w="12700">
            <a:solidFill>
              <a:srgbClr val="0ea5e9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3429000" y="4160520"/>
            <a:ext cx="2651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Packagist.org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Text 17"/>
          <p:cNvSpPr/>
          <p:nvPr/>
        </p:nvSpPr>
        <p:spPr>
          <a:xfrm>
            <a:off x="548640" y="475488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</a:rPr>
              <a:t>Coach Thiam  ·  Sonatel Academy — Orange Digital Center  ·  Dev Web &amp; Mobile 2024–2025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0"/>
          <p:cNvSpPr/>
          <p:nvPr/>
        </p:nvSpPr>
        <p:spPr>
          <a:xfrm>
            <a:off x="457200" y="27432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Plan de la présentation</a:t>
            </a:r>
            <a:endParaRPr b="0" lang="fr-FR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Shape 1"/>
          <p:cNvSpPr/>
          <p:nvPr/>
        </p:nvSpPr>
        <p:spPr>
          <a:xfrm>
            <a:off x="457200" y="1097280"/>
            <a:ext cx="502560" cy="50256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2"/>
          <p:cNvSpPr/>
          <p:nvPr/>
        </p:nvSpPr>
        <p:spPr>
          <a:xfrm>
            <a:off x="457200" y="10972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A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3"/>
          <p:cNvSpPr/>
          <p:nvPr/>
        </p:nvSpPr>
        <p:spPr>
          <a:xfrm>
            <a:off x="1143000" y="1097280"/>
            <a:ext cx="7497720" cy="502560"/>
          </a:xfrm>
          <a:prstGeom prst="roundRect">
            <a:avLst>
              <a:gd name="adj" fmla="val 18182"/>
            </a:avLst>
          </a:prstGeom>
          <a:solidFill>
            <a:srgbClr val="1e293b"/>
          </a:solidFill>
          <a:ln w="12700">
            <a:solidFill>
              <a:srgbClr val="1d4ed8">
                <a:alpha val="40000"/>
              </a:srgbClr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 4"/>
          <p:cNvSpPr/>
          <p:nvPr/>
        </p:nvSpPr>
        <p:spPr>
          <a:xfrm>
            <a:off x="1371600" y="1097280"/>
            <a:ext cx="7131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Fonctions Anonymes / Arrow Functions / Closures</a:t>
            </a:r>
            <a:endParaRPr b="0" lang="fr-F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Shape 5"/>
          <p:cNvSpPr/>
          <p:nvPr/>
        </p:nvSpPr>
        <p:spPr>
          <a:xfrm>
            <a:off x="457200" y="2011680"/>
            <a:ext cx="502560" cy="5025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 6"/>
          <p:cNvSpPr/>
          <p:nvPr/>
        </p:nvSpPr>
        <p:spPr>
          <a:xfrm>
            <a:off x="457200" y="20116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B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7"/>
          <p:cNvSpPr/>
          <p:nvPr/>
        </p:nvSpPr>
        <p:spPr>
          <a:xfrm>
            <a:off x="1143000" y="2011680"/>
            <a:ext cx="7497720" cy="502560"/>
          </a:xfrm>
          <a:prstGeom prst="roundRect">
            <a:avLst>
              <a:gd name="adj" fmla="val 18182"/>
            </a:avLst>
          </a:prstGeom>
          <a:solidFill>
            <a:srgbClr val="1e293b"/>
          </a:solidFill>
          <a:ln w="12700">
            <a:solidFill>
              <a:srgbClr val="10b981">
                <a:alpha val="40000"/>
              </a:srgbClr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Text 8"/>
          <p:cNvSpPr/>
          <p:nvPr/>
        </p:nvSpPr>
        <p:spPr>
          <a:xfrm>
            <a:off x="1371600" y="2011680"/>
            <a:ext cx="7131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Fonctions natives de tableaux  (array_*)</a:t>
            </a:r>
            <a:endParaRPr b="0" lang="fr-F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Shape 9"/>
          <p:cNvSpPr/>
          <p:nvPr/>
        </p:nvSpPr>
        <p:spPr>
          <a:xfrm>
            <a:off x="457200" y="2926080"/>
            <a:ext cx="502560" cy="5025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10"/>
          <p:cNvSpPr/>
          <p:nvPr/>
        </p:nvSpPr>
        <p:spPr>
          <a:xfrm>
            <a:off x="457200" y="29260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C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Shape 11"/>
          <p:cNvSpPr/>
          <p:nvPr/>
        </p:nvSpPr>
        <p:spPr>
          <a:xfrm>
            <a:off x="1143000" y="2926080"/>
            <a:ext cx="7497720" cy="502560"/>
          </a:xfrm>
          <a:prstGeom prst="roundRect">
            <a:avLst>
              <a:gd name="adj" fmla="val 18182"/>
            </a:avLst>
          </a:prstGeom>
          <a:solidFill>
            <a:srgbClr val="1e293b"/>
          </a:solidFill>
          <a:ln w="12700">
            <a:solidFill>
              <a:srgbClr val="f59e0b">
                <a:alpha val="40000"/>
              </a:srgbClr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Text 12"/>
          <p:cNvSpPr/>
          <p:nvPr/>
        </p:nvSpPr>
        <p:spPr>
          <a:xfrm>
            <a:off x="1371600" y="2926080"/>
            <a:ext cx="7131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Gestionnaire de dépendances Composer</a:t>
            </a:r>
            <a:endParaRPr b="0" lang="fr-F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Shape 13"/>
          <p:cNvSpPr/>
          <p:nvPr/>
        </p:nvSpPr>
        <p:spPr>
          <a:xfrm>
            <a:off x="457200" y="3840480"/>
            <a:ext cx="502560" cy="50256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Text 14"/>
          <p:cNvSpPr/>
          <p:nvPr/>
        </p:nvSpPr>
        <p:spPr>
          <a:xfrm>
            <a:off x="457200" y="38404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D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Shape 15"/>
          <p:cNvSpPr/>
          <p:nvPr/>
        </p:nvSpPr>
        <p:spPr>
          <a:xfrm>
            <a:off x="1143000" y="3840480"/>
            <a:ext cx="7497720" cy="502560"/>
          </a:xfrm>
          <a:prstGeom prst="roundRect">
            <a:avLst>
              <a:gd name="adj" fmla="val 18182"/>
            </a:avLst>
          </a:prstGeom>
          <a:solidFill>
            <a:srgbClr val="1e293b"/>
          </a:solidFill>
          <a:ln w="12700">
            <a:solidFill>
              <a:srgbClr val="0ea5e9">
                <a:alpha val="40000"/>
              </a:srgbClr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Text 16"/>
          <p:cNvSpPr/>
          <p:nvPr/>
        </p:nvSpPr>
        <p:spPr>
          <a:xfrm>
            <a:off x="1371600" y="3840480"/>
            <a:ext cx="7131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Packagist.org et son écosystème</a:t>
            </a:r>
            <a:endParaRPr b="0" lang="fr-FR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0"/>
          <p:cNvSpPr/>
          <p:nvPr/>
        </p:nvSpPr>
        <p:spPr>
          <a:xfrm>
            <a:off x="0" y="0"/>
            <a:ext cx="9143640" cy="1005480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Shape 1"/>
          <p:cNvSpPr/>
          <p:nvPr/>
        </p:nvSpPr>
        <p:spPr>
          <a:xfrm>
            <a:off x="182880" y="137160"/>
            <a:ext cx="731160" cy="73116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2"/>
          <p:cNvSpPr/>
          <p:nvPr/>
        </p:nvSpPr>
        <p:spPr>
          <a:xfrm>
            <a:off x="182880" y="13716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A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3"/>
          <p:cNvSpPr/>
          <p:nvPr/>
        </p:nvSpPr>
        <p:spPr>
          <a:xfrm>
            <a:off x="1097280" y="137160"/>
            <a:ext cx="7772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</a:rPr>
              <a:t>Fonctions Anonymes (Closures)</a:t>
            </a:r>
            <a:endParaRPr b="0" lang="fr-FR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Shape 4"/>
          <p:cNvSpPr/>
          <p:nvPr/>
        </p:nvSpPr>
        <p:spPr>
          <a:xfrm>
            <a:off x="274320" y="1143000"/>
            <a:ext cx="4114440" cy="146268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2700">
            <a:solidFill>
              <a:srgbClr val="1d4ed8">
                <a:alpha val="50000"/>
              </a:srgbClr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 5"/>
          <p:cNvSpPr/>
          <p:nvPr/>
        </p:nvSpPr>
        <p:spPr>
          <a:xfrm>
            <a:off x="457200" y="1188720"/>
            <a:ext cx="3748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ea5e9"/>
                </a:solidFill>
                <a:latin typeface="Calibri"/>
              </a:rPr>
              <a:t>Qu'est-ce que c'est ?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 6"/>
          <p:cNvSpPr/>
          <p:nvPr/>
        </p:nvSpPr>
        <p:spPr>
          <a:xfrm>
            <a:off x="457200" y="1572840"/>
            <a:ext cx="3748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1f5f9"/>
                </a:solidFill>
                <a:latin typeface="Calibri"/>
              </a:rPr>
              <a:t>Une fonction sans nom, assignée à une variable ou passée en argument. Peut capturer des variables via </a:t>
            </a:r>
            <a:r>
              <a:rPr b="1" lang="en-US" sz="1200" spc="-1" strike="noStrike">
                <a:solidFill>
                  <a:srgbClr val="0ea5e9"/>
                </a:solidFill>
                <a:latin typeface="Calibri"/>
              </a:rPr>
              <a:t>use</a:t>
            </a:r>
            <a:r>
              <a:rPr b="0" lang="en-US" sz="1200" spc="-1" strike="noStrike">
                <a:solidFill>
                  <a:srgbClr val="f1f5f9"/>
                </a:solidFill>
                <a:latin typeface="Calibri"/>
              </a:rPr>
              <a:t>.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Shape 7"/>
          <p:cNvSpPr/>
          <p:nvPr/>
        </p:nvSpPr>
        <p:spPr>
          <a:xfrm>
            <a:off x="4572000" y="1143000"/>
            <a:ext cx="4297320" cy="1462680"/>
          </a:xfrm>
          <a:prstGeom prst="roundRect">
            <a:avLst>
              <a:gd name="adj" fmla="val 6250"/>
            </a:avLst>
          </a:prstGeom>
          <a:solidFill>
            <a:srgbClr val="0d1117"/>
          </a:solidFill>
          <a:ln w="12700">
            <a:solidFill>
              <a:srgbClr val="94a3b8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8"/>
          <p:cNvSpPr/>
          <p:nvPr/>
        </p:nvSpPr>
        <p:spPr>
          <a:xfrm>
            <a:off x="4663440" y="1188720"/>
            <a:ext cx="41144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$</a:t>
            </a:r>
            <a:r>
              <a:rPr b="0" lang="en-US" sz="1100" spc="-1" strike="noStrike">
                <a:solidFill>
                  <a:srgbClr val="0ea5e9"/>
                </a:solidFill>
                <a:latin typeface="Courier New"/>
                <a:ea typeface="Courier New"/>
              </a:rPr>
              <a:t>saluer</a:t>
            </a: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 = </a:t>
            </a:r>
            <a:r>
              <a:rPr b="0" lang="en-US" sz="1100" spc="-1" strike="noStrike">
                <a:solidFill>
                  <a:srgbClr val="1d4ed8"/>
                </a:solidFill>
                <a:latin typeface="Courier New"/>
                <a:ea typeface="Courier New"/>
              </a:rPr>
              <a:t>function</a:t>
            </a: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($nom) {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1100" spc="-1" strike="noStrike">
                <a:solidFill>
                  <a:srgbClr val="1d4ed8"/>
                </a:solidFill>
                <a:latin typeface="Courier New"/>
                <a:ea typeface="Courier New"/>
              </a:rPr>
              <a:t>  </a:t>
            </a:r>
            <a:r>
              <a:rPr b="0" lang="en-US" sz="1100" spc="-1" strike="noStrike">
                <a:solidFill>
                  <a:srgbClr val="1d4ed8"/>
                </a:solidFill>
                <a:latin typeface="Courier New"/>
                <a:ea typeface="Courier New"/>
              </a:rPr>
              <a:t>return</a:t>
            </a:r>
            <a:r>
              <a:rPr b="0" lang="en-US" sz="1100" spc="-1" strike="noStrike">
                <a:solidFill>
                  <a:srgbClr val="f59e0b"/>
                </a:solidFill>
                <a:latin typeface="Courier New"/>
                <a:ea typeface="Courier New"/>
              </a:rPr>
              <a:t> "Bonjour $nom !";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};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7c3aed"/>
                </a:solidFill>
                <a:latin typeface="Courier New"/>
                <a:ea typeface="Courier New"/>
              </a:rPr>
              <a:t>echo</a:t>
            </a: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 $saluer(</a:t>
            </a:r>
            <a:r>
              <a:rPr b="0" lang="en-US" sz="1100" spc="-1" strike="noStrike">
                <a:solidFill>
                  <a:srgbClr val="f59e0b"/>
                </a:solidFill>
                <a:latin typeface="Courier New"/>
                <a:ea typeface="Courier New"/>
              </a:rPr>
              <a:t>"Alioune"</a:t>
            </a: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);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Shape 9"/>
          <p:cNvSpPr/>
          <p:nvPr/>
        </p:nvSpPr>
        <p:spPr>
          <a:xfrm>
            <a:off x="274320" y="2788920"/>
            <a:ext cx="4114440" cy="2057040"/>
          </a:xfrm>
          <a:prstGeom prst="roundRect">
            <a:avLst>
              <a:gd name="adj" fmla="val 4444"/>
            </a:avLst>
          </a:prstGeom>
          <a:solidFill>
            <a:srgbClr val="1e293b"/>
          </a:solidFill>
          <a:ln w="12700">
            <a:solidFill>
              <a:srgbClr val="7c3aed">
                <a:alpha val="50000"/>
              </a:srgbClr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10"/>
          <p:cNvSpPr/>
          <p:nvPr/>
        </p:nvSpPr>
        <p:spPr>
          <a:xfrm>
            <a:off x="457200" y="2834640"/>
            <a:ext cx="3748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7c3aed"/>
                </a:solidFill>
                <a:latin typeface="Calibri"/>
              </a:rPr>
              <a:t>Capturer avec use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 11"/>
          <p:cNvSpPr/>
          <p:nvPr/>
        </p:nvSpPr>
        <p:spPr>
          <a:xfrm>
            <a:off x="457200" y="3218760"/>
            <a:ext cx="374868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0" lang="en-US" sz="1100" spc="-1" strike="noStrike">
                <a:solidFill>
                  <a:srgbClr val="0ea5e9"/>
                </a:solidFill>
                <a:latin typeface="Courier New"/>
                <a:ea typeface="Courier New"/>
              </a:rPr>
              <a:t>$prefix</a:t>
            </a:r>
            <a:r>
              <a:rPr b="0" lang="en-US" sz="1100" spc="-1" strike="noStrike">
                <a:solidFill>
                  <a:srgbClr val="f59e0b"/>
                </a:solidFill>
                <a:latin typeface="Courier New"/>
                <a:ea typeface="Courier New"/>
              </a:rPr>
              <a:t> = "Mr.";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1100" spc="-1" strike="noStrike">
                <a:solidFill>
                  <a:srgbClr val="0ea5e9"/>
                </a:solidFill>
                <a:latin typeface="Courier New"/>
                <a:ea typeface="Courier New"/>
              </a:rPr>
              <a:t>$afficher</a:t>
            </a: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 = </a:t>
            </a:r>
            <a:r>
              <a:rPr b="0" lang="en-US" sz="1100" spc="-1" strike="noStrike">
                <a:solidFill>
                  <a:srgbClr val="1d4ed8"/>
                </a:solidFill>
                <a:latin typeface="Courier New"/>
                <a:ea typeface="Courier New"/>
              </a:rPr>
              <a:t>function</a:t>
            </a: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($nom) </a:t>
            </a:r>
            <a:r>
              <a:rPr b="0" lang="en-US" sz="1100" spc="-1" strike="noStrike">
                <a:solidFill>
                  <a:srgbClr val="7c3aed"/>
                </a:solidFill>
                <a:latin typeface="Courier New"/>
                <a:ea typeface="Courier New"/>
              </a:rPr>
              <a:t>use</a:t>
            </a: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 ($prefix) {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1100" spc="-1" strike="noStrike">
                <a:solidFill>
                  <a:srgbClr val="7c3aed"/>
                </a:solidFill>
                <a:latin typeface="Courier New"/>
                <a:ea typeface="Courier New"/>
              </a:rPr>
              <a:t>  </a:t>
            </a:r>
            <a:r>
              <a:rPr b="0" lang="en-US" sz="1100" spc="-1" strike="noStrike">
                <a:solidFill>
                  <a:srgbClr val="7c3aed"/>
                </a:solidFill>
                <a:latin typeface="Courier New"/>
                <a:ea typeface="Courier New"/>
              </a:rPr>
              <a:t>echo</a:t>
            </a:r>
            <a:r>
              <a:rPr b="0" lang="en-US" sz="1100" spc="-1" strike="noStrike">
                <a:solidFill>
                  <a:srgbClr val="f59e0b"/>
                </a:solidFill>
                <a:latin typeface="Courier New"/>
                <a:ea typeface="Courier New"/>
              </a:rPr>
              <a:t> "$prefix $nom";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};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Shape 12"/>
          <p:cNvSpPr/>
          <p:nvPr/>
        </p:nvSpPr>
        <p:spPr>
          <a:xfrm>
            <a:off x="4572000" y="2788920"/>
            <a:ext cx="4297320" cy="2057040"/>
          </a:xfrm>
          <a:prstGeom prst="roundRect">
            <a:avLst>
              <a:gd name="adj" fmla="val 4444"/>
            </a:avLst>
          </a:prstGeom>
          <a:solidFill>
            <a:srgbClr val="1e293b"/>
          </a:solidFill>
          <a:ln w="12700">
            <a:solidFill>
              <a:srgbClr val="10b981">
                <a:alpha val="50000"/>
              </a:srgbClr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Text 13"/>
          <p:cNvSpPr/>
          <p:nvPr/>
        </p:nvSpPr>
        <p:spPr>
          <a:xfrm>
            <a:off x="4754880" y="2834640"/>
            <a:ext cx="3931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0b981"/>
                </a:solidFill>
                <a:latin typeface="Calibri"/>
              </a:rPr>
              <a:t>Cas d'usage typiques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Text 14"/>
          <p:cNvSpPr/>
          <p:nvPr/>
        </p:nvSpPr>
        <p:spPr>
          <a:xfrm>
            <a:off x="4846320" y="3200400"/>
            <a:ext cx="384012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f1f5f9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f1f5f9"/>
                </a:solidFill>
                <a:latin typeface="Calibri"/>
              </a:rPr>
              <a:t>Callback dans array_map / usort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1f5f9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f1f5f9"/>
                </a:solidFill>
                <a:latin typeface="Calibri"/>
              </a:rPr>
              <a:t>Passage en argument de fonction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1f5f9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f1f5f9"/>
                </a:solidFill>
                <a:latin typeface="Calibri"/>
              </a:rPr>
              <a:t>Encapsulation de logique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1f5f9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f1f5f9"/>
                </a:solidFill>
                <a:latin typeface="Calibri"/>
              </a:rPr>
              <a:t>Événements / Middlewares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0"/>
          <p:cNvSpPr/>
          <p:nvPr/>
        </p:nvSpPr>
        <p:spPr>
          <a:xfrm>
            <a:off x="0" y="0"/>
            <a:ext cx="9143640" cy="1005480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Shape 1"/>
          <p:cNvSpPr/>
          <p:nvPr/>
        </p:nvSpPr>
        <p:spPr>
          <a:xfrm>
            <a:off x="182880" y="137160"/>
            <a:ext cx="731160" cy="73116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Text 2"/>
          <p:cNvSpPr/>
          <p:nvPr/>
        </p:nvSpPr>
        <p:spPr>
          <a:xfrm>
            <a:off x="182880" y="13716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A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Text 3"/>
          <p:cNvSpPr/>
          <p:nvPr/>
        </p:nvSpPr>
        <p:spPr>
          <a:xfrm>
            <a:off x="1097280" y="137160"/>
            <a:ext cx="7772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</a:rPr>
              <a:t>Arrow Functions (PHP 7.4+)</a:t>
            </a:r>
            <a:endParaRPr b="0" lang="fr-FR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 4"/>
          <p:cNvSpPr/>
          <p:nvPr/>
        </p:nvSpPr>
        <p:spPr>
          <a:xfrm>
            <a:off x="274320" y="1051560"/>
            <a:ext cx="8595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ea5e9"/>
                </a:solidFill>
                <a:latin typeface="Calibri"/>
              </a:rPr>
              <a:t>Syntaxe comparée — Anonyme vs Arrow Function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Shape 5"/>
          <p:cNvSpPr/>
          <p:nvPr/>
        </p:nvSpPr>
        <p:spPr>
          <a:xfrm>
            <a:off x="274320" y="1508760"/>
            <a:ext cx="4114440" cy="1416960"/>
          </a:xfrm>
          <a:prstGeom prst="roundRect">
            <a:avLst>
              <a:gd name="adj" fmla="val 6452"/>
            </a:avLst>
          </a:prstGeom>
          <a:solidFill>
            <a:srgbClr val="0d1117"/>
          </a:solidFill>
          <a:ln w="12700">
            <a:solidFill>
              <a:srgbClr val="94a3b8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Text 6"/>
          <p:cNvSpPr/>
          <p:nvPr/>
        </p:nvSpPr>
        <p:spPr>
          <a:xfrm>
            <a:off x="457200" y="155448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94a3b8"/>
                </a:solidFill>
                <a:latin typeface="Calibri"/>
              </a:rPr>
              <a:t>❌ </a:t>
            </a:r>
            <a:r>
              <a:rPr b="1" lang="en-US" sz="1100" spc="-1" strike="noStrike">
                <a:solidFill>
                  <a:srgbClr val="94a3b8"/>
                </a:solidFill>
                <a:latin typeface="Calibri"/>
              </a:rPr>
              <a:t>Fonction anonyme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 7"/>
          <p:cNvSpPr/>
          <p:nvPr/>
        </p:nvSpPr>
        <p:spPr>
          <a:xfrm>
            <a:off x="457200" y="1874520"/>
            <a:ext cx="37486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ea5e9"/>
                </a:solidFill>
                <a:latin typeface="Courier New"/>
                <a:ea typeface="Courier New"/>
              </a:rPr>
              <a:t>$double</a:t>
            </a:r>
            <a:r>
              <a:rPr b="0" lang="en-US" sz="1200" spc="-1" strike="noStrike">
                <a:solidFill>
                  <a:srgbClr val="ffffff"/>
                </a:solidFill>
                <a:latin typeface="Courier New"/>
                <a:ea typeface="Courier New"/>
              </a:rPr>
              <a:t> = </a:t>
            </a:r>
            <a:r>
              <a:rPr b="0" lang="en-US" sz="1200" spc="-1" strike="noStrike">
                <a:solidFill>
                  <a:srgbClr val="1d4ed8"/>
                </a:solidFill>
                <a:latin typeface="Courier New"/>
                <a:ea typeface="Courier New"/>
              </a:rPr>
              <a:t>function</a:t>
            </a:r>
            <a:r>
              <a:rPr b="0" lang="en-US" sz="1200" spc="-1" strike="noStrike">
                <a:solidFill>
                  <a:srgbClr val="ffffff"/>
                </a:solidFill>
                <a:latin typeface="Courier New"/>
                <a:ea typeface="Courier New"/>
              </a:rPr>
              <a:t>($n) {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ourier New"/>
                <a:ea typeface="Courier New"/>
              </a:rPr>
              <a:t>  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d4ed8"/>
                </a:solidFill>
                <a:latin typeface="Courier New"/>
                <a:ea typeface="Courier New"/>
              </a:rPr>
              <a:t>return</a:t>
            </a:r>
            <a:r>
              <a:rPr b="0" lang="en-US" sz="1200" spc="-1" strike="noStrike">
                <a:solidFill>
                  <a:srgbClr val="ffffff"/>
                </a:solidFill>
                <a:latin typeface="Courier New"/>
                <a:ea typeface="Courier New"/>
              </a:rPr>
              <a:t> $n * 2;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ourier New"/>
                <a:ea typeface="Courier New"/>
              </a:rPr>
              <a:t>};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Shape 8"/>
          <p:cNvSpPr/>
          <p:nvPr/>
        </p:nvSpPr>
        <p:spPr>
          <a:xfrm>
            <a:off x="4754880" y="1508760"/>
            <a:ext cx="4114440" cy="1416960"/>
          </a:xfrm>
          <a:prstGeom prst="roundRect">
            <a:avLst>
              <a:gd name="adj" fmla="val 6452"/>
            </a:avLst>
          </a:prstGeom>
          <a:solidFill>
            <a:srgbClr val="0d1117"/>
          </a:solidFill>
          <a:ln w="12700">
            <a:solidFill>
              <a:srgbClr val="10b981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Text 9"/>
          <p:cNvSpPr/>
          <p:nvPr/>
        </p:nvSpPr>
        <p:spPr>
          <a:xfrm>
            <a:off x="4937760" y="155448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0b981"/>
                </a:solidFill>
                <a:latin typeface="Calibri"/>
              </a:rPr>
              <a:t>✅ </a:t>
            </a:r>
            <a:r>
              <a:rPr b="1" lang="en-US" sz="1100" spc="-1" strike="noStrike">
                <a:solidFill>
                  <a:srgbClr val="10b981"/>
                </a:solidFill>
                <a:latin typeface="Calibri"/>
              </a:rPr>
              <a:t>Arrow Function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Text 10"/>
          <p:cNvSpPr/>
          <p:nvPr/>
        </p:nvSpPr>
        <p:spPr>
          <a:xfrm>
            <a:off x="4937760" y="1874520"/>
            <a:ext cx="37486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ea5e9"/>
                </a:solidFill>
                <a:latin typeface="Courier New"/>
                <a:ea typeface="Courier New"/>
              </a:rPr>
              <a:t>$double</a:t>
            </a:r>
            <a:r>
              <a:rPr b="0" lang="en-US" sz="1200" spc="-1" strike="noStrike">
                <a:solidFill>
                  <a:srgbClr val="ffffff"/>
                </a:solidFill>
                <a:latin typeface="Courier New"/>
                <a:ea typeface="Courier New"/>
              </a:rPr>
              <a:t> = </a:t>
            </a:r>
            <a:r>
              <a:rPr b="0" lang="en-US" sz="1200" spc="-1" strike="noStrike">
                <a:solidFill>
                  <a:srgbClr val="1d4ed8"/>
                </a:solidFill>
                <a:latin typeface="Courier New"/>
                <a:ea typeface="Courier New"/>
              </a:rPr>
              <a:t>fn</a:t>
            </a:r>
            <a:r>
              <a:rPr b="0" lang="en-US" sz="1200" spc="-1" strike="noStrike">
                <a:solidFill>
                  <a:srgbClr val="ffffff"/>
                </a:solidFill>
                <a:latin typeface="Courier New"/>
                <a:ea typeface="Courier New"/>
              </a:rPr>
              <a:t>($n)</a:t>
            </a:r>
            <a:r>
              <a:rPr b="0" lang="en-US" sz="1200" spc="-1" strike="noStrike">
                <a:solidFill>
                  <a:srgbClr val="7c3aed"/>
                </a:solidFill>
                <a:latin typeface="Courier New"/>
                <a:ea typeface="Courier New"/>
              </a:rPr>
              <a:t> =&gt; </a:t>
            </a:r>
            <a:r>
              <a:rPr b="0" lang="en-US" sz="1200" spc="-1" strike="noStrike">
                <a:solidFill>
                  <a:srgbClr val="ffffff"/>
                </a:solidFill>
                <a:latin typeface="Courier New"/>
                <a:ea typeface="Courier New"/>
              </a:rPr>
              <a:t>$n * 2;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Shape 11"/>
          <p:cNvSpPr/>
          <p:nvPr/>
        </p:nvSpPr>
        <p:spPr>
          <a:xfrm>
            <a:off x="274320" y="3063240"/>
            <a:ext cx="2742840" cy="1782720"/>
          </a:xfrm>
          <a:prstGeom prst="roundRect">
            <a:avLst>
              <a:gd name="adj" fmla="val 6154"/>
            </a:avLst>
          </a:prstGeom>
          <a:solidFill>
            <a:srgbClr val="1e293b"/>
          </a:solidFill>
          <a:ln w="12700">
            <a:solidFill>
              <a:srgbClr val="1d4ed8">
                <a:alpha val="50000"/>
              </a:srgbClr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Shape 12"/>
          <p:cNvSpPr/>
          <p:nvPr/>
        </p:nvSpPr>
        <p:spPr>
          <a:xfrm>
            <a:off x="411480" y="3200400"/>
            <a:ext cx="456840" cy="456840"/>
          </a:xfrm>
          <a:prstGeom prst="roundRect">
            <a:avLst>
              <a:gd name="adj" fmla="val 12000"/>
            </a:avLst>
          </a:prstGeom>
          <a:solidFill>
            <a:srgbClr val="1d4ed8"/>
          </a:solidFill>
          <a:ln w="12700">
            <a:solidFill>
              <a:srgbClr val="1d4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 13"/>
          <p:cNvSpPr/>
          <p:nvPr/>
        </p:nvSpPr>
        <p:spPr>
          <a:xfrm>
            <a:off x="1005840" y="320040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Syntaxe courte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Text 14"/>
          <p:cNvSpPr/>
          <p:nvPr/>
        </p:nvSpPr>
        <p:spPr>
          <a:xfrm>
            <a:off x="457200" y="3749040"/>
            <a:ext cx="246852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1f5f9"/>
                </a:solidFill>
                <a:latin typeface="Calibri"/>
              </a:rPr>
              <a:t>Expression sur une ligne, pas de return explicite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Shape 15"/>
          <p:cNvSpPr/>
          <p:nvPr/>
        </p:nvSpPr>
        <p:spPr>
          <a:xfrm>
            <a:off x="3227760" y="3063240"/>
            <a:ext cx="2742840" cy="1782720"/>
          </a:xfrm>
          <a:prstGeom prst="roundRect">
            <a:avLst>
              <a:gd name="adj" fmla="val 6154"/>
            </a:avLst>
          </a:prstGeom>
          <a:solidFill>
            <a:srgbClr val="1e293b"/>
          </a:solidFill>
          <a:ln w="12700">
            <a:solidFill>
              <a:srgbClr val="7c3aed">
                <a:alpha val="50000"/>
              </a:srgbClr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Shape 16"/>
          <p:cNvSpPr/>
          <p:nvPr/>
        </p:nvSpPr>
        <p:spPr>
          <a:xfrm>
            <a:off x="3364920" y="3200400"/>
            <a:ext cx="456840" cy="456840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 17"/>
          <p:cNvSpPr/>
          <p:nvPr/>
        </p:nvSpPr>
        <p:spPr>
          <a:xfrm>
            <a:off x="3959280" y="320040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Capture auto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Text 18"/>
          <p:cNvSpPr/>
          <p:nvPr/>
        </p:nvSpPr>
        <p:spPr>
          <a:xfrm>
            <a:off x="3410640" y="3749040"/>
            <a:ext cx="246852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1f5f9"/>
                </a:solidFill>
                <a:latin typeface="Calibri"/>
              </a:rPr>
              <a:t>Accède aux variables parentes sans use()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Shape 19"/>
          <p:cNvSpPr/>
          <p:nvPr/>
        </p:nvSpPr>
        <p:spPr>
          <a:xfrm>
            <a:off x="6181200" y="3063240"/>
            <a:ext cx="2742840" cy="1782720"/>
          </a:xfrm>
          <a:prstGeom prst="roundRect">
            <a:avLst>
              <a:gd name="adj" fmla="val 6154"/>
            </a:avLst>
          </a:prstGeom>
          <a:solidFill>
            <a:srgbClr val="1e293b"/>
          </a:solidFill>
          <a:ln w="12700">
            <a:solidFill>
              <a:srgbClr val="10b981">
                <a:alpha val="50000"/>
              </a:srgbClr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Shape 20"/>
          <p:cNvSpPr/>
          <p:nvPr/>
        </p:nvSpPr>
        <p:spPr>
          <a:xfrm>
            <a:off x="6318360" y="3200400"/>
            <a:ext cx="456840" cy="456840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Text 21"/>
          <p:cNvSpPr/>
          <p:nvPr/>
        </p:nvSpPr>
        <p:spPr>
          <a:xfrm>
            <a:off x="6912720" y="320040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Idéal callbacks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 22"/>
          <p:cNvSpPr/>
          <p:nvPr/>
        </p:nvSpPr>
        <p:spPr>
          <a:xfrm>
            <a:off x="6364080" y="3749040"/>
            <a:ext cx="246852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1f5f9"/>
                </a:solidFill>
                <a:latin typeface="Calibri"/>
              </a:rPr>
              <a:t>Parfait avec array_map, array_filter…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0"/>
          <p:cNvSpPr/>
          <p:nvPr/>
        </p:nvSpPr>
        <p:spPr>
          <a:xfrm>
            <a:off x="0" y="0"/>
            <a:ext cx="9143640" cy="1005480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Shape 1"/>
          <p:cNvSpPr/>
          <p:nvPr/>
        </p:nvSpPr>
        <p:spPr>
          <a:xfrm>
            <a:off x="182880" y="137160"/>
            <a:ext cx="731160" cy="7311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 2"/>
          <p:cNvSpPr/>
          <p:nvPr/>
        </p:nvSpPr>
        <p:spPr>
          <a:xfrm>
            <a:off x="182880" y="13716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A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 3"/>
          <p:cNvSpPr/>
          <p:nvPr/>
        </p:nvSpPr>
        <p:spPr>
          <a:xfrm>
            <a:off x="1097280" y="137160"/>
            <a:ext cx="7772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</a:rPr>
              <a:t>Closures — Concept &amp; Mécanisme</a:t>
            </a:r>
            <a:endParaRPr b="0" lang="fr-FR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Shape 4"/>
          <p:cNvSpPr/>
          <p:nvPr/>
        </p:nvSpPr>
        <p:spPr>
          <a:xfrm>
            <a:off x="274320" y="1097280"/>
            <a:ext cx="8595000" cy="73116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2700">
            <a:solidFill>
              <a:srgbClr val="7c3aed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Text 5"/>
          <p:cNvSpPr/>
          <p:nvPr/>
        </p:nvSpPr>
        <p:spPr>
          <a:xfrm>
            <a:off x="457200" y="11430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7c3aed"/>
                </a:solidFill>
                <a:latin typeface="Calibri"/>
              </a:rPr>
              <a:t>Une closure </a:t>
            </a:r>
            <a:r>
              <a:rPr b="0" lang="en-US" sz="1300" spc="-1" strike="noStrike">
                <a:solidFill>
                  <a:srgbClr val="f1f5f9"/>
                </a:solidFill>
                <a:latin typeface="Calibri"/>
              </a:rPr>
              <a:t>est une fonction qui </a:t>
            </a:r>
            <a:r>
              <a:rPr b="1" lang="en-US" sz="1300" spc="-1" strike="noStrike">
                <a:solidFill>
                  <a:srgbClr val="0ea5e9"/>
                </a:solidFill>
                <a:latin typeface="Calibri"/>
              </a:rPr>
              <a:t>mémorise l'environnement </a:t>
            </a:r>
            <a:r>
              <a:rPr b="0" lang="en-US" sz="1300" spc="-1" strike="noStrike">
                <a:solidFill>
                  <a:srgbClr val="f1f5f9"/>
                </a:solidFill>
                <a:latin typeface="Calibri"/>
              </a:rPr>
              <a:t>dans lequel elle a été créée — même après que cet environnement a disparu.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Shape 6"/>
          <p:cNvSpPr/>
          <p:nvPr/>
        </p:nvSpPr>
        <p:spPr>
          <a:xfrm>
            <a:off x="274320" y="1965960"/>
            <a:ext cx="4754520" cy="2651400"/>
          </a:xfrm>
          <a:prstGeom prst="roundRect">
            <a:avLst>
              <a:gd name="adj" fmla="val 3448"/>
            </a:avLst>
          </a:prstGeom>
          <a:solidFill>
            <a:srgbClr val="0d1117"/>
          </a:solidFill>
          <a:ln w="12700">
            <a:solidFill>
              <a:srgbClr val="94a3b8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 7"/>
          <p:cNvSpPr/>
          <p:nvPr/>
        </p:nvSpPr>
        <p:spPr>
          <a:xfrm>
            <a:off x="457200" y="2011680"/>
            <a:ext cx="4388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ea5e9"/>
                </a:solidFill>
                <a:latin typeface="Calibri"/>
              </a:rPr>
              <a:t>Exemple — Compteur avec closure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Text 8"/>
          <p:cNvSpPr/>
          <p:nvPr/>
        </p:nvSpPr>
        <p:spPr>
          <a:xfrm>
            <a:off x="457200" y="2423160"/>
            <a:ext cx="448020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0" lang="en-US" sz="1100" spc="-1" strike="noStrike">
                <a:solidFill>
                  <a:srgbClr val="1d4ed8"/>
                </a:solidFill>
                <a:latin typeface="Courier New"/>
                <a:ea typeface="Courier New"/>
              </a:rPr>
              <a:t>function</a:t>
            </a: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 creerCompteur() {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ea5e9"/>
                </a:solidFill>
                <a:latin typeface="Courier New"/>
                <a:ea typeface="Courier New"/>
              </a:rPr>
              <a:t>  </a:t>
            </a:r>
            <a:r>
              <a:rPr b="0" lang="en-US" sz="1100" spc="-1" strike="noStrike">
                <a:solidFill>
                  <a:srgbClr val="0ea5e9"/>
                </a:solidFill>
                <a:latin typeface="Courier New"/>
                <a:ea typeface="Courier New"/>
              </a:rPr>
              <a:t>$count</a:t>
            </a: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 = 0;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  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d4ed8"/>
                </a:solidFill>
                <a:latin typeface="Courier New"/>
                <a:ea typeface="Courier New"/>
              </a:rPr>
              <a:t>return function</a:t>
            </a: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() </a:t>
            </a:r>
            <a:r>
              <a:rPr b="0" lang="en-US" sz="1100" spc="-1" strike="noStrike">
                <a:solidFill>
                  <a:srgbClr val="7c3aed"/>
                </a:solidFill>
                <a:latin typeface="Courier New"/>
                <a:ea typeface="Courier New"/>
              </a:rPr>
              <a:t>use</a:t>
            </a: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 (&amp;$count) {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d4ed8"/>
                </a:solidFill>
                <a:latin typeface="Courier New"/>
                <a:ea typeface="Courier New"/>
              </a:rPr>
              <a:t>return</a:t>
            </a: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 ++$count;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  </a:t>
            </a: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};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}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ea5e9"/>
                </a:solidFill>
                <a:latin typeface="Courier New"/>
                <a:ea typeface="Courier New"/>
              </a:rPr>
              <a:t>$c</a:t>
            </a: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 = creerCompteur();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7c3aed"/>
                </a:solidFill>
                <a:latin typeface="Courier New"/>
                <a:ea typeface="Courier New"/>
              </a:rPr>
              <a:t>echo</a:t>
            </a: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 $c(); </a:t>
            </a:r>
            <a:r>
              <a:rPr b="0" lang="en-US" sz="1100" spc="-1" strike="noStrike">
                <a:solidFill>
                  <a:srgbClr val="94a3b8"/>
                </a:solidFill>
                <a:latin typeface="Courier New"/>
                <a:ea typeface="Courier New"/>
              </a:rPr>
              <a:t>// 1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7c3aed"/>
                </a:solidFill>
                <a:latin typeface="Courier New"/>
                <a:ea typeface="Courier New"/>
              </a:rPr>
              <a:t>echo</a:t>
            </a: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 $c(); </a:t>
            </a:r>
            <a:r>
              <a:rPr b="0" lang="en-US" sz="1100" spc="-1" strike="noStrike">
                <a:solidFill>
                  <a:srgbClr val="94a3b8"/>
                </a:solidFill>
                <a:latin typeface="Courier New"/>
                <a:ea typeface="Courier New"/>
              </a:rPr>
              <a:t>// 2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Shape 9"/>
          <p:cNvSpPr/>
          <p:nvPr/>
        </p:nvSpPr>
        <p:spPr>
          <a:xfrm>
            <a:off x="5212080" y="1965960"/>
            <a:ext cx="3657240" cy="2651400"/>
          </a:xfrm>
          <a:prstGeom prst="roundRect">
            <a:avLst>
              <a:gd name="adj" fmla="val 3448"/>
            </a:avLst>
          </a:prstGeom>
          <a:solidFill>
            <a:srgbClr val="1e293b"/>
          </a:solidFill>
          <a:ln w="12700">
            <a:solidFill>
              <a:srgbClr val="7c3aed">
                <a:alpha val="60000"/>
              </a:srgbClr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Text 10"/>
          <p:cNvSpPr/>
          <p:nvPr/>
        </p:nvSpPr>
        <p:spPr>
          <a:xfrm>
            <a:off x="5394960" y="2011680"/>
            <a:ext cx="3291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7c3aed"/>
                </a:solidFill>
                <a:latin typeface="Calibri"/>
              </a:rPr>
              <a:t>Comment ça fonctionne ?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 11"/>
          <p:cNvSpPr/>
          <p:nvPr/>
        </p:nvSpPr>
        <p:spPr>
          <a:xfrm>
            <a:off x="5394960" y="2423160"/>
            <a:ext cx="329148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ea5e9"/>
                </a:solidFill>
                <a:latin typeface="Calibri"/>
              </a:rPr>
              <a:t>① </a:t>
            </a:r>
            <a:r>
              <a:rPr b="1" lang="en-US" sz="1200" spc="-1" strike="noStrike">
                <a:solidFill>
                  <a:srgbClr val="0ea5e9"/>
                </a:solidFill>
                <a:latin typeface="Calibri"/>
              </a:rPr>
              <a:t>use (&amp;$var)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1f5f9"/>
                </a:solidFill>
                <a:latin typeface="Calibri"/>
              </a:rPr>
              <a:t>  </a:t>
            </a:r>
            <a:r>
              <a:rPr b="0" lang="en-US" sz="1200" spc="-1" strike="noStrike">
                <a:solidFill>
                  <a:srgbClr val="f1f5f9"/>
                </a:solidFill>
                <a:latin typeface="Calibri"/>
              </a:rPr>
              <a:t>Passe par référence → mutations persistantes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59e0b"/>
                </a:solidFill>
                <a:latin typeface="Calibri"/>
              </a:rPr>
              <a:t>② </a:t>
            </a:r>
            <a:r>
              <a:rPr b="1" lang="en-US" sz="1200" spc="-1" strike="noStrike">
                <a:solidFill>
                  <a:srgbClr val="f59e0b"/>
                </a:solidFill>
                <a:latin typeface="Calibri"/>
              </a:rPr>
              <a:t>use ($var)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1f5f9"/>
                </a:solidFill>
                <a:latin typeface="Calibri"/>
              </a:rPr>
              <a:t>  </a:t>
            </a:r>
            <a:r>
              <a:rPr b="0" lang="en-US" sz="1200" spc="-1" strike="noStrike">
                <a:solidFill>
                  <a:srgbClr val="f1f5f9"/>
                </a:solidFill>
                <a:latin typeface="Calibri"/>
              </a:rPr>
              <a:t>Passe par copie → lecture seule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0b981"/>
                </a:solidFill>
                <a:latin typeface="Calibri"/>
              </a:rPr>
              <a:t>③ </a:t>
            </a:r>
            <a:r>
              <a:rPr b="1" lang="en-US" sz="1200" spc="-1" strike="noStrike">
                <a:solidFill>
                  <a:srgbClr val="10b981"/>
                </a:solidFill>
                <a:latin typeface="Calibri"/>
              </a:rPr>
              <a:t>Portée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1f5f9"/>
                </a:solidFill>
                <a:latin typeface="Calibri"/>
              </a:rPr>
              <a:t>  </a:t>
            </a:r>
            <a:r>
              <a:rPr b="0" lang="en-US" sz="1200" spc="-1" strike="noStrike">
                <a:solidFill>
                  <a:srgbClr val="f1f5f9"/>
                </a:solidFill>
                <a:latin typeface="Calibri"/>
              </a:rPr>
              <a:t>La closure conserve l'état entre les appels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0"/>
          <p:cNvSpPr/>
          <p:nvPr/>
        </p:nvSpPr>
        <p:spPr>
          <a:xfrm>
            <a:off x="0" y="0"/>
            <a:ext cx="9143640" cy="1005480"/>
          </a:xfrm>
          <a:prstGeom prst="roundRect">
            <a:avLst>
              <a:gd name="adj" fmla="val 16667"/>
            </a:avLst>
          </a:prstGeom>
          <a:solidFill>
            <a:srgbClr val="0d3320"/>
          </a:solidFill>
          <a:ln w="12700">
            <a:solidFill>
              <a:srgbClr val="0d33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Shape 1"/>
          <p:cNvSpPr/>
          <p:nvPr/>
        </p:nvSpPr>
        <p:spPr>
          <a:xfrm>
            <a:off x="182880" y="137160"/>
            <a:ext cx="731160" cy="7311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Text 2"/>
          <p:cNvSpPr/>
          <p:nvPr/>
        </p:nvSpPr>
        <p:spPr>
          <a:xfrm>
            <a:off x="182880" y="13716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B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Text 3"/>
          <p:cNvSpPr/>
          <p:nvPr/>
        </p:nvSpPr>
        <p:spPr>
          <a:xfrm>
            <a:off x="1097280" y="137160"/>
            <a:ext cx="7772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Fonctions Natives de Tableaux (array_*)</a:t>
            </a:r>
            <a:endParaRPr b="0" lang="fr-FR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Shape 4"/>
          <p:cNvSpPr/>
          <p:nvPr/>
        </p:nvSpPr>
        <p:spPr>
          <a:xfrm>
            <a:off x="182880" y="1143000"/>
            <a:ext cx="2834280" cy="1737000"/>
          </a:xfrm>
          <a:prstGeom prst="roundRect">
            <a:avLst>
              <a:gd name="adj" fmla="val 6316"/>
            </a:avLst>
          </a:prstGeom>
          <a:solidFill>
            <a:srgbClr val="1e293b"/>
          </a:solidFill>
          <a:ln w="12700">
            <a:solidFill>
              <a:srgbClr val="1d4ed8">
                <a:alpha val="50000"/>
              </a:srgbClr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Shape 5"/>
          <p:cNvSpPr/>
          <p:nvPr/>
        </p:nvSpPr>
        <p:spPr>
          <a:xfrm>
            <a:off x="292680" y="1252800"/>
            <a:ext cx="2651400" cy="319680"/>
          </a:xfrm>
          <a:prstGeom prst="roundRect">
            <a:avLst>
              <a:gd name="adj" fmla="val 14286"/>
            </a:avLst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Text 6"/>
          <p:cNvSpPr/>
          <p:nvPr/>
        </p:nvSpPr>
        <p:spPr>
          <a:xfrm>
            <a:off x="320040" y="1252800"/>
            <a:ext cx="2605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array_map()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 7"/>
          <p:cNvSpPr/>
          <p:nvPr/>
        </p:nvSpPr>
        <p:spPr>
          <a:xfrm>
            <a:off x="320040" y="1600200"/>
            <a:ext cx="2605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1f5f9"/>
                </a:solidFill>
                <a:latin typeface="Calibri"/>
              </a:rPr>
              <a:t>Applique un callback sur chaque élément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Shape 8"/>
          <p:cNvSpPr/>
          <p:nvPr/>
        </p:nvSpPr>
        <p:spPr>
          <a:xfrm>
            <a:off x="274320" y="2103120"/>
            <a:ext cx="2651400" cy="667080"/>
          </a:xfrm>
          <a:prstGeom prst="roundRect">
            <a:avLst>
              <a:gd name="adj" fmla="val 9589"/>
            </a:avLst>
          </a:prstGeom>
          <a:solidFill>
            <a:srgbClr val="0d1117"/>
          </a:solidFill>
          <a:ln w="12700">
            <a:solidFill>
              <a:srgbClr val="94a3b8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 9"/>
          <p:cNvSpPr/>
          <p:nvPr/>
        </p:nvSpPr>
        <p:spPr>
          <a:xfrm>
            <a:off x="347400" y="2148840"/>
            <a:ext cx="251424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0ea5e9"/>
                </a:solidFill>
                <a:latin typeface="Courier New"/>
                <a:ea typeface="Courier New"/>
              </a:rPr>
              <a:t>$r = array_map(fn($n)=&gt;$n*2, [1,2,3]);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Shape 10"/>
          <p:cNvSpPr/>
          <p:nvPr/>
        </p:nvSpPr>
        <p:spPr>
          <a:xfrm>
            <a:off x="3182040" y="1143000"/>
            <a:ext cx="2834280" cy="1737000"/>
          </a:xfrm>
          <a:prstGeom prst="roundRect">
            <a:avLst>
              <a:gd name="adj" fmla="val 6316"/>
            </a:avLst>
          </a:prstGeom>
          <a:solidFill>
            <a:srgbClr val="1e293b"/>
          </a:solidFill>
          <a:ln w="12700">
            <a:solidFill>
              <a:srgbClr val="7c3aed">
                <a:alpha val="50000"/>
              </a:srgbClr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Shape 11"/>
          <p:cNvSpPr/>
          <p:nvPr/>
        </p:nvSpPr>
        <p:spPr>
          <a:xfrm>
            <a:off x="3291840" y="1252800"/>
            <a:ext cx="2651400" cy="319680"/>
          </a:xfrm>
          <a:prstGeom prst="roundRect">
            <a:avLst>
              <a:gd name="adj" fmla="val 14286"/>
            </a:avLst>
          </a:prstGeom>
          <a:solidFill>
            <a:srgbClr val="7c3aed">
              <a:alpha val="25000"/>
            </a:srgbClr>
          </a:solidFill>
          <a:ln w="12700">
            <a:solidFill>
              <a:srgbClr val="7c3aed">
                <a:alpha val="2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 12"/>
          <p:cNvSpPr/>
          <p:nvPr/>
        </p:nvSpPr>
        <p:spPr>
          <a:xfrm>
            <a:off x="3319200" y="1252800"/>
            <a:ext cx="2605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array_filter()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 13"/>
          <p:cNvSpPr/>
          <p:nvPr/>
        </p:nvSpPr>
        <p:spPr>
          <a:xfrm>
            <a:off x="3319200" y="1600200"/>
            <a:ext cx="2605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1f5f9"/>
                </a:solidFill>
                <a:latin typeface="Calibri"/>
              </a:rPr>
              <a:t>Filtre les éléments selon un prédicat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Shape 14"/>
          <p:cNvSpPr/>
          <p:nvPr/>
        </p:nvSpPr>
        <p:spPr>
          <a:xfrm>
            <a:off x="3273480" y="2103120"/>
            <a:ext cx="2651400" cy="667080"/>
          </a:xfrm>
          <a:prstGeom prst="roundRect">
            <a:avLst>
              <a:gd name="adj" fmla="val 9589"/>
            </a:avLst>
          </a:prstGeom>
          <a:solidFill>
            <a:srgbClr val="0d1117"/>
          </a:solidFill>
          <a:ln w="12700">
            <a:solidFill>
              <a:srgbClr val="94a3b8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Text 15"/>
          <p:cNvSpPr/>
          <p:nvPr/>
        </p:nvSpPr>
        <p:spPr>
          <a:xfrm>
            <a:off x="3346560" y="2148840"/>
            <a:ext cx="251424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0ea5e9"/>
                </a:solidFill>
                <a:latin typeface="Courier New"/>
                <a:ea typeface="Courier New"/>
              </a:rPr>
              <a:t>$p = array_filter($arr, fn($n)=&gt;$n&gt;0);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Shape 16"/>
          <p:cNvSpPr/>
          <p:nvPr/>
        </p:nvSpPr>
        <p:spPr>
          <a:xfrm>
            <a:off x="6181200" y="1143000"/>
            <a:ext cx="2834280" cy="1737000"/>
          </a:xfrm>
          <a:prstGeom prst="roundRect">
            <a:avLst>
              <a:gd name="adj" fmla="val 6316"/>
            </a:avLst>
          </a:prstGeom>
          <a:solidFill>
            <a:srgbClr val="1e293b"/>
          </a:solidFill>
          <a:ln w="12700">
            <a:solidFill>
              <a:srgbClr val="f59e0b">
                <a:alpha val="50000"/>
              </a:srgbClr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Shape 17"/>
          <p:cNvSpPr/>
          <p:nvPr/>
        </p:nvSpPr>
        <p:spPr>
          <a:xfrm>
            <a:off x="6291000" y="1252800"/>
            <a:ext cx="2651400" cy="319680"/>
          </a:xfrm>
          <a:prstGeom prst="roundRect">
            <a:avLst>
              <a:gd name="adj" fmla="val 14286"/>
            </a:avLst>
          </a:prstGeom>
          <a:solidFill>
            <a:srgbClr val="f59e0b">
              <a:alpha val="25000"/>
            </a:srgbClr>
          </a:solidFill>
          <a:ln w="12700">
            <a:solidFill>
              <a:srgbClr val="f59e0b">
                <a:alpha val="2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18"/>
          <p:cNvSpPr/>
          <p:nvPr/>
        </p:nvSpPr>
        <p:spPr>
          <a:xfrm>
            <a:off x="6318360" y="1252800"/>
            <a:ext cx="2605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array_reduce()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Text 19"/>
          <p:cNvSpPr/>
          <p:nvPr/>
        </p:nvSpPr>
        <p:spPr>
          <a:xfrm>
            <a:off x="6318360" y="1600200"/>
            <a:ext cx="2605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1f5f9"/>
                </a:solidFill>
                <a:latin typeface="Calibri"/>
              </a:rPr>
              <a:t>Réduit un tableau à une valeur unique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Shape 20"/>
          <p:cNvSpPr/>
          <p:nvPr/>
        </p:nvSpPr>
        <p:spPr>
          <a:xfrm>
            <a:off x="6272640" y="2103120"/>
            <a:ext cx="2651400" cy="667080"/>
          </a:xfrm>
          <a:prstGeom prst="roundRect">
            <a:avLst>
              <a:gd name="adj" fmla="val 9589"/>
            </a:avLst>
          </a:prstGeom>
          <a:solidFill>
            <a:srgbClr val="0d1117"/>
          </a:solidFill>
          <a:ln w="12700">
            <a:solidFill>
              <a:srgbClr val="94a3b8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 21"/>
          <p:cNvSpPr/>
          <p:nvPr/>
        </p:nvSpPr>
        <p:spPr>
          <a:xfrm>
            <a:off x="6346080" y="2148840"/>
            <a:ext cx="251424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0ea5e9"/>
                </a:solidFill>
                <a:latin typeface="Courier New"/>
                <a:ea typeface="Courier New"/>
              </a:rPr>
              <a:t>$s = array_reduce($arr, fn($c,$i)=&gt;$c+$i);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Shape 22"/>
          <p:cNvSpPr/>
          <p:nvPr/>
        </p:nvSpPr>
        <p:spPr>
          <a:xfrm>
            <a:off x="182880" y="3063240"/>
            <a:ext cx="2834280" cy="1737000"/>
          </a:xfrm>
          <a:prstGeom prst="roundRect">
            <a:avLst>
              <a:gd name="adj" fmla="val 6316"/>
            </a:avLst>
          </a:prstGeom>
          <a:solidFill>
            <a:srgbClr val="1e293b"/>
          </a:solidFill>
          <a:ln w="12700">
            <a:solidFill>
              <a:srgbClr val="0ea5e9">
                <a:alpha val="50000"/>
              </a:srgbClr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Shape 23"/>
          <p:cNvSpPr/>
          <p:nvPr/>
        </p:nvSpPr>
        <p:spPr>
          <a:xfrm>
            <a:off x="292680" y="3173040"/>
            <a:ext cx="2651400" cy="319680"/>
          </a:xfrm>
          <a:prstGeom prst="roundRect">
            <a:avLst>
              <a:gd name="adj" fmla="val 14286"/>
            </a:avLst>
          </a:prstGeom>
          <a:solidFill>
            <a:srgbClr val="0ea5e9">
              <a:alpha val="25000"/>
            </a:srgbClr>
          </a:solidFill>
          <a:ln w="12700">
            <a:solidFill>
              <a:srgbClr val="0ea5e9">
                <a:alpha val="2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Text 24"/>
          <p:cNvSpPr/>
          <p:nvPr/>
        </p:nvSpPr>
        <p:spPr>
          <a:xfrm>
            <a:off x="320040" y="3173040"/>
            <a:ext cx="2605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array_keys()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Text 25"/>
          <p:cNvSpPr/>
          <p:nvPr/>
        </p:nvSpPr>
        <p:spPr>
          <a:xfrm>
            <a:off x="320040" y="3520440"/>
            <a:ext cx="2605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1f5f9"/>
                </a:solidFill>
                <a:latin typeface="Calibri"/>
              </a:rPr>
              <a:t>Retourne toutes les clés d'un tableau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Shape 26"/>
          <p:cNvSpPr/>
          <p:nvPr/>
        </p:nvSpPr>
        <p:spPr>
          <a:xfrm>
            <a:off x="274320" y="4023360"/>
            <a:ext cx="2651400" cy="667080"/>
          </a:xfrm>
          <a:prstGeom prst="roundRect">
            <a:avLst>
              <a:gd name="adj" fmla="val 9589"/>
            </a:avLst>
          </a:prstGeom>
          <a:solidFill>
            <a:srgbClr val="0d1117"/>
          </a:solidFill>
          <a:ln w="12700">
            <a:solidFill>
              <a:srgbClr val="94a3b8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Text 27"/>
          <p:cNvSpPr/>
          <p:nvPr/>
        </p:nvSpPr>
        <p:spPr>
          <a:xfrm>
            <a:off x="347400" y="4069080"/>
            <a:ext cx="251424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0ea5e9"/>
                </a:solidFill>
                <a:latin typeface="Courier New"/>
                <a:ea typeface="Courier New"/>
              </a:rPr>
              <a:t>$keys = array_keys(['a'=&gt;1,'b'=&gt;2]);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Shape 28"/>
          <p:cNvSpPr/>
          <p:nvPr/>
        </p:nvSpPr>
        <p:spPr>
          <a:xfrm>
            <a:off x="3182040" y="3063240"/>
            <a:ext cx="2834280" cy="1737000"/>
          </a:xfrm>
          <a:prstGeom prst="roundRect">
            <a:avLst>
              <a:gd name="adj" fmla="val 6316"/>
            </a:avLst>
          </a:prstGeom>
          <a:solidFill>
            <a:srgbClr val="1e293b"/>
          </a:solidFill>
          <a:ln w="12700">
            <a:solidFill>
              <a:srgbClr val="10b981">
                <a:alpha val="50000"/>
              </a:srgbClr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Shape 29"/>
          <p:cNvSpPr/>
          <p:nvPr/>
        </p:nvSpPr>
        <p:spPr>
          <a:xfrm>
            <a:off x="3291840" y="3173040"/>
            <a:ext cx="2651400" cy="319680"/>
          </a:xfrm>
          <a:prstGeom prst="roundRect">
            <a:avLst>
              <a:gd name="adj" fmla="val 14286"/>
            </a:avLst>
          </a:prstGeom>
          <a:solidFill>
            <a:srgbClr val="10b981">
              <a:alpha val="25000"/>
            </a:srgbClr>
          </a:solidFill>
          <a:ln w="12700">
            <a:solidFill>
              <a:srgbClr val="10b981">
                <a:alpha val="2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Text 30"/>
          <p:cNvSpPr/>
          <p:nvPr/>
        </p:nvSpPr>
        <p:spPr>
          <a:xfrm>
            <a:off x="3319200" y="3173040"/>
            <a:ext cx="2605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array_values()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Text 31"/>
          <p:cNvSpPr/>
          <p:nvPr/>
        </p:nvSpPr>
        <p:spPr>
          <a:xfrm>
            <a:off x="3319200" y="3520440"/>
            <a:ext cx="2605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1f5f9"/>
                </a:solidFill>
                <a:latin typeface="Calibri"/>
              </a:rPr>
              <a:t>Retourne les valeurs réindexées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Shape 32"/>
          <p:cNvSpPr/>
          <p:nvPr/>
        </p:nvSpPr>
        <p:spPr>
          <a:xfrm>
            <a:off x="3273480" y="4023360"/>
            <a:ext cx="2651400" cy="667080"/>
          </a:xfrm>
          <a:prstGeom prst="roundRect">
            <a:avLst>
              <a:gd name="adj" fmla="val 9589"/>
            </a:avLst>
          </a:prstGeom>
          <a:solidFill>
            <a:srgbClr val="0d1117"/>
          </a:solidFill>
          <a:ln w="12700">
            <a:solidFill>
              <a:srgbClr val="94a3b8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Text 33"/>
          <p:cNvSpPr/>
          <p:nvPr/>
        </p:nvSpPr>
        <p:spPr>
          <a:xfrm>
            <a:off x="3346560" y="4069080"/>
            <a:ext cx="251424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0ea5e9"/>
                </a:solidFill>
                <a:latin typeface="Courier New"/>
                <a:ea typeface="Courier New"/>
              </a:rPr>
              <a:t>$vals = array_values($assoc);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Shape 34"/>
          <p:cNvSpPr/>
          <p:nvPr/>
        </p:nvSpPr>
        <p:spPr>
          <a:xfrm>
            <a:off x="6181200" y="3063240"/>
            <a:ext cx="2834280" cy="1737000"/>
          </a:xfrm>
          <a:prstGeom prst="roundRect">
            <a:avLst>
              <a:gd name="adj" fmla="val 6316"/>
            </a:avLst>
          </a:prstGeom>
          <a:solidFill>
            <a:srgbClr val="1e293b"/>
          </a:solidFill>
          <a:ln w="12700">
            <a:solidFill>
              <a:srgbClr val="1d4ed8">
                <a:alpha val="50000"/>
              </a:srgbClr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Shape 35"/>
          <p:cNvSpPr/>
          <p:nvPr/>
        </p:nvSpPr>
        <p:spPr>
          <a:xfrm>
            <a:off x="6291000" y="3173040"/>
            <a:ext cx="2651400" cy="319680"/>
          </a:xfrm>
          <a:prstGeom prst="roundRect">
            <a:avLst>
              <a:gd name="adj" fmla="val 14286"/>
            </a:avLst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Text 36"/>
          <p:cNvSpPr/>
          <p:nvPr/>
        </p:nvSpPr>
        <p:spPr>
          <a:xfrm>
            <a:off x="6318360" y="3173040"/>
            <a:ext cx="2605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array_merge()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Text 37"/>
          <p:cNvSpPr/>
          <p:nvPr/>
        </p:nvSpPr>
        <p:spPr>
          <a:xfrm>
            <a:off x="6318360" y="3520440"/>
            <a:ext cx="2605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1f5f9"/>
                </a:solidFill>
                <a:latin typeface="Calibri"/>
              </a:rPr>
              <a:t>Fusionne deux tableaux ou plus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Shape 38"/>
          <p:cNvSpPr/>
          <p:nvPr/>
        </p:nvSpPr>
        <p:spPr>
          <a:xfrm>
            <a:off x="6272640" y="4023360"/>
            <a:ext cx="2651400" cy="667080"/>
          </a:xfrm>
          <a:prstGeom prst="roundRect">
            <a:avLst>
              <a:gd name="adj" fmla="val 9589"/>
            </a:avLst>
          </a:prstGeom>
          <a:solidFill>
            <a:srgbClr val="0d1117"/>
          </a:solidFill>
          <a:ln w="12700">
            <a:solidFill>
              <a:srgbClr val="94a3b8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Text 39"/>
          <p:cNvSpPr/>
          <p:nvPr/>
        </p:nvSpPr>
        <p:spPr>
          <a:xfrm>
            <a:off x="6346080" y="4069080"/>
            <a:ext cx="251424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0ea5e9"/>
                </a:solidFill>
                <a:latin typeface="Courier New"/>
                <a:ea typeface="Courier New"/>
              </a:rPr>
              <a:t>$m = array_merge($arr1, $arr2);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0"/>
          <p:cNvSpPr/>
          <p:nvPr/>
        </p:nvSpPr>
        <p:spPr>
          <a:xfrm>
            <a:off x="0" y="0"/>
            <a:ext cx="9143640" cy="1005480"/>
          </a:xfrm>
          <a:prstGeom prst="roundRect">
            <a:avLst>
              <a:gd name="adj" fmla="val 16667"/>
            </a:avLst>
          </a:prstGeom>
          <a:solidFill>
            <a:srgbClr val="0d3320"/>
          </a:solidFill>
          <a:ln w="12700">
            <a:solidFill>
              <a:srgbClr val="0d33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Shape 1"/>
          <p:cNvSpPr/>
          <p:nvPr/>
        </p:nvSpPr>
        <p:spPr>
          <a:xfrm>
            <a:off x="182880" y="137160"/>
            <a:ext cx="731160" cy="7311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Text 2"/>
          <p:cNvSpPr/>
          <p:nvPr/>
        </p:nvSpPr>
        <p:spPr>
          <a:xfrm>
            <a:off x="182880" y="13716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B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Text 3"/>
          <p:cNvSpPr/>
          <p:nvPr/>
        </p:nvSpPr>
        <p:spPr>
          <a:xfrm>
            <a:off x="1097280" y="137160"/>
            <a:ext cx="7772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Fonctions Avancées &amp; Pipeline de Données</a:t>
            </a:r>
            <a:endParaRPr b="0" lang="fr-FR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Shape 4"/>
          <p:cNvSpPr/>
          <p:nvPr/>
        </p:nvSpPr>
        <p:spPr>
          <a:xfrm>
            <a:off x="274320" y="1143000"/>
            <a:ext cx="1298160" cy="68544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f59e0b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Text 5"/>
          <p:cNvSpPr/>
          <p:nvPr/>
        </p:nvSpPr>
        <p:spPr>
          <a:xfrm>
            <a:off x="274320" y="1170360"/>
            <a:ext cx="1298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59e0b"/>
                </a:solidFill>
                <a:latin typeface="Calibri"/>
              </a:rPr>
              <a:t>usort()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 6"/>
          <p:cNvSpPr/>
          <p:nvPr/>
        </p:nvSpPr>
        <p:spPr>
          <a:xfrm>
            <a:off x="274320" y="1517760"/>
            <a:ext cx="1298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</a:rPr>
              <a:t>Tri personnalisé avec callback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Shape 7"/>
          <p:cNvSpPr/>
          <p:nvPr/>
        </p:nvSpPr>
        <p:spPr>
          <a:xfrm>
            <a:off x="1719000" y="1143000"/>
            <a:ext cx="1298160" cy="68544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1d4ed8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Text 8"/>
          <p:cNvSpPr/>
          <p:nvPr/>
        </p:nvSpPr>
        <p:spPr>
          <a:xfrm>
            <a:off x="1719000" y="1170360"/>
            <a:ext cx="1298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d4ed8"/>
                </a:solidFill>
                <a:latin typeface="Calibri"/>
              </a:rPr>
              <a:t>array_unique()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Text 9"/>
          <p:cNvSpPr/>
          <p:nvPr/>
        </p:nvSpPr>
        <p:spPr>
          <a:xfrm>
            <a:off x="1719000" y="1517760"/>
            <a:ext cx="1298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</a:rPr>
              <a:t>Supprime les doublons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Shape 10"/>
          <p:cNvSpPr/>
          <p:nvPr/>
        </p:nvSpPr>
        <p:spPr>
          <a:xfrm>
            <a:off x="3163680" y="1143000"/>
            <a:ext cx="1298160" cy="68544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7c3aed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Text 11"/>
          <p:cNvSpPr/>
          <p:nvPr/>
        </p:nvSpPr>
        <p:spPr>
          <a:xfrm>
            <a:off x="3163680" y="1170360"/>
            <a:ext cx="1298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7c3aed"/>
                </a:solidFill>
                <a:latin typeface="Calibri"/>
              </a:rPr>
              <a:t>in_array()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Text 12"/>
          <p:cNvSpPr/>
          <p:nvPr/>
        </p:nvSpPr>
        <p:spPr>
          <a:xfrm>
            <a:off x="3163680" y="1517760"/>
            <a:ext cx="1298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</a:rPr>
              <a:t>Vérifie si valeur existe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Shape 13"/>
          <p:cNvSpPr/>
          <p:nvPr/>
        </p:nvSpPr>
        <p:spPr>
          <a:xfrm>
            <a:off x="4608720" y="1143000"/>
            <a:ext cx="1298160" cy="68544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0ea5e9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 14"/>
          <p:cNvSpPr/>
          <p:nvPr/>
        </p:nvSpPr>
        <p:spPr>
          <a:xfrm>
            <a:off x="4608720" y="1170360"/>
            <a:ext cx="1298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ea5e9"/>
                </a:solidFill>
                <a:latin typeface="Calibri"/>
              </a:rPr>
              <a:t>array_search()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Text 15"/>
          <p:cNvSpPr/>
          <p:nvPr/>
        </p:nvSpPr>
        <p:spPr>
          <a:xfrm>
            <a:off x="4608720" y="1517760"/>
            <a:ext cx="1298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</a:rPr>
              <a:t>Retourne la clé de la valeur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Shape 16"/>
          <p:cNvSpPr/>
          <p:nvPr/>
        </p:nvSpPr>
        <p:spPr>
          <a:xfrm>
            <a:off x="6053400" y="1143000"/>
            <a:ext cx="1298160" cy="68544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10b981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Text 17"/>
          <p:cNvSpPr/>
          <p:nvPr/>
        </p:nvSpPr>
        <p:spPr>
          <a:xfrm>
            <a:off x="6053400" y="1170360"/>
            <a:ext cx="1298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0b981"/>
                </a:solidFill>
                <a:latin typeface="Calibri"/>
              </a:rPr>
              <a:t>array_chunk()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Text 18"/>
          <p:cNvSpPr/>
          <p:nvPr/>
        </p:nvSpPr>
        <p:spPr>
          <a:xfrm>
            <a:off x="6053400" y="1517760"/>
            <a:ext cx="1298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</a:rPr>
              <a:t>Divise en sous-tableaux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Shape 19"/>
          <p:cNvSpPr/>
          <p:nvPr/>
        </p:nvSpPr>
        <p:spPr>
          <a:xfrm>
            <a:off x="7498080" y="1143000"/>
            <a:ext cx="1298160" cy="68544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f59e0b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Text 20"/>
          <p:cNvSpPr/>
          <p:nvPr/>
        </p:nvSpPr>
        <p:spPr>
          <a:xfrm>
            <a:off x="7498080" y="1170360"/>
            <a:ext cx="1298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59e0b"/>
                </a:solidFill>
                <a:latin typeface="Calibri"/>
              </a:rPr>
              <a:t>array_column()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Text 21"/>
          <p:cNvSpPr/>
          <p:nvPr/>
        </p:nvSpPr>
        <p:spPr>
          <a:xfrm>
            <a:off x="7498080" y="1517760"/>
            <a:ext cx="1298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</a:rPr>
              <a:t>Extrait une colonne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Text 22"/>
          <p:cNvSpPr/>
          <p:nvPr/>
        </p:nvSpPr>
        <p:spPr>
          <a:xfrm>
            <a:off x="274320" y="1965960"/>
            <a:ext cx="8595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ea5e9"/>
                </a:solidFill>
                <a:latin typeface="Calibri"/>
              </a:rPr>
              <a:t>Exemple Pipeline — Transformer des données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Shape 23"/>
          <p:cNvSpPr/>
          <p:nvPr/>
        </p:nvSpPr>
        <p:spPr>
          <a:xfrm>
            <a:off x="274320" y="2377440"/>
            <a:ext cx="8595000" cy="2468520"/>
          </a:xfrm>
          <a:prstGeom prst="roundRect">
            <a:avLst>
              <a:gd name="adj" fmla="val 3704"/>
            </a:avLst>
          </a:prstGeom>
          <a:solidFill>
            <a:srgbClr val="0d1117"/>
          </a:solidFill>
          <a:ln w="12700">
            <a:solidFill>
              <a:srgbClr val="94a3b8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Text 24"/>
          <p:cNvSpPr/>
          <p:nvPr/>
        </p:nvSpPr>
        <p:spPr>
          <a:xfrm>
            <a:off x="457200" y="2468880"/>
            <a:ext cx="822924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0" lang="en-US" sz="1100" spc="-1" strike="noStrike">
                <a:solidFill>
                  <a:srgbClr val="0ea5e9"/>
                </a:solidFill>
                <a:latin typeface="Courier New"/>
                <a:ea typeface="Courier New"/>
              </a:rPr>
              <a:t>$produits</a:t>
            </a: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 = [['nom'=&gt;'PHP','prix'=&gt;50],['nom'=&gt;'JS','prix'=&gt;0],['nom'=&gt;'Python','prix'=&gt;30]];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1100" spc="-1" strike="noStrike">
                <a:solidFill>
                  <a:srgbClr val="94a3b8"/>
                </a:solidFill>
                <a:latin typeface="Courier New"/>
                <a:ea typeface="Courier New"/>
              </a:rPr>
              <a:t>// Filtrer gratuits → doubler prix → trier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1100" spc="-1" strike="noStrike">
                <a:solidFill>
                  <a:srgbClr val="0ea5e9"/>
                </a:solidFill>
                <a:latin typeface="Courier New"/>
                <a:ea typeface="Courier New"/>
              </a:rPr>
              <a:t>$result</a:t>
            </a: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 = </a:t>
            </a:r>
            <a:r>
              <a:rPr b="0" lang="en-US" sz="1100" spc="-1" strike="noStrike">
                <a:solidFill>
                  <a:srgbClr val="10b981"/>
                </a:solidFill>
                <a:latin typeface="Courier New"/>
                <a:ea typeface="Courier New"/>
              </a:rPr>
              <a:t>array_filter</a:t>
            </a: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($produits, </a:t>
            </a:r>
            <a:r>
              <a:rPr b="0" lang="en-US" sz="1100" spc="-1" strike="noStrike">
                <a:solidFill>
                  <a:srgbClr val="1d4ed8"/>
                </a:solidFill>
                <a:latin typeface="Courier New"/>
                <a:ea typeface="Courier New"/>
              </a:rPr>
              <a:t>fn</a:t>
            </a: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($p) =&gt; $p['prix'] &gt; 0);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1100" spc="-1" strike="noStrike">
                <a:solidFill>
                  <a:srgbClr val="0ea5e9"/>
                </a:solidFill>
                <a:latin typeface="Courier New"/>
                <a:ea typeface="Courier New"/>
              </a:rPr>
              <a:t>$result</a:t>
            </a: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 = </a:t>
            </a:r>
            <a:r>
              <a:rPr b="0" lang="en-US" sz="1100" spc="-1" strike="noStrike">
                <a:solidFill>
                  <a:srgbClr val="10b981"/>
                </a:solidFill>
                <a:latin typeface="Courier New"/>
                <a:ea typeface="Courier New"/>
              </a:rPr>
              <a:t>array_map</a:t>
            </a: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(</a:t>
            </a:r>
            <a:r>
              <a:rPr b="0" lang="en-US" sz="1100" spc="-1" strike="noStrike">
                <a:solidFill>
                  <a:srgbClr val="1d4ed8"/>
                </a:solidFill>
                <a:latin typeface="Courier New"/>
                <a:ea typeface="Courier New"/>
              </a:rPr>
              <a:t>fn</a:t>
            </a: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($p) =&gt; ['nom'=&gt;$p['nom'],'prix'=&gt;$p['prix']*2], $result);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0b981"/>
                </a:solidFill>
                <a:latin typeface="Courier New"/>
                <a:ea typeface="Courier New"/>
              </a:rPr>
              <a:t>usort</a:t>
            </a: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($result, </a:t>
            </a:r>
            <a:r>
              <a:rPr b="0" lang="en-US" sz="1100" spc="-1" strike="noStrike">
                <a:solidFill>
                  <a:srgbClr val="1d4ed8"/>
                </a:solidFill>
                <a:latin typeface="Courier New"/>
                <a:ea typeface="Courier New"/>
              </a:rPr>
              <a:t>fn</a:t>
            </a: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($a,$b) =&gt; $a['prix'] &lt;=&gt; $b['prix']);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0"/>
          <p:cNvSpPr/>
          <p:nvPr/>
        </p:nvSpPr>
        <p:spPr>
          <a:xfrm>
            <a:off x="0" y="0"/>
            <a:ext cx="9143640" cy="1005480"/>
          </a:xfrm>
          <a:prstGeom prst="roundRect">
            <a:avLst>
              <a:gd name="adj" fmla="val 16667"/>
            </a:avLst>
          </a:prstGeom>
          <a:solidFill>
            <a:srgbClr val="2d1b00"/>
          </a:solidFill>
          <a:ln w="12700">
            <a:solidFill>
              <a:srgbClr val="2d1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Shape 1"/>
          <p:cNvSpPr/>
          <p:nvPr/>
        </p:nvSpPr>
        <p:spPr>
          <a:xfrm>
            <a:off x="182880" y="137160"/>
            <a:ext cx="731160" cy="7311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2"/>
          <p:cNvSpPr/>
          <p:nvPr/>
        </p:nvSpPr>
        <p:spPr>
          <a:xfrm>
            <a:off x="182880" y="13716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C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Text 3"/>
          <p:cNvSpPr/>
          <p:nvPr/>
        </p:nvSpPr>
        <p:spPr>
          <a:xfrm>
            <a:off x="1097280" y="137160"/>
            <a:ext cx="7772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Composer — Gestionnaire de Dépendances PHP</a:t>
            </a:r>
            <a:endParaRPr b="0" lang="fr-FR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Shape 4"/>
          <p:cNvSpPr/>
          <p:nvPr/>
        </p:nvSpPr>
        <p:spPr>
          <a:xfrm>
            <a:off x="274320" y="1097280"/>
            <a:ext cx="8595000" cy="776880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f59e0b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Text 5"/>
          <p:cNvSpPr/>
          <p:nvPr/>
        </p:nvSpPr>
        <p:spPr>
          <a:xfrm>
            <a:off x="457200" y="114300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59e0b"/>
                </a:solidFill>
                <a:latin typeface="Calibri"/>
              </a:rPr>
              <a:t>Composer </a:t>
            </a:r>
            <a:r>
              <a:rPr b="0" lang="en-US" sz="1300" spc="-1" strike="noStrike">
                <a:solidFill>
                  <a:srgbClr val="f1f5f9"/>
                </a:solidFill>
                <a:latin typeface="Calibri"/>
              </a:rPr>
              <a:t>est l'outil standard de gestion de </a:t>
            </a:r>
            <a:r>
              <a:rPr b="1" lang="en-US" sz="1300" spc="-1" strike="noStrike">
                <a:solidFill>
                  <a:srgbClr val="0ea5e9"/>
                </a:solidFill>
                <a:latin typeface="Calibri"/>
              </a:rPr>
              <a:t>dépendances et d'autoload </a:t>
            </a:r>
            <a:r>
              <a:rPr b="0" lang="en-US" sz="1300" spc="-1" strike="noStrike">
                <a:solidFill>
                  <a:srgbClr val="f1f5f9"/>
                </a:solidFill>
                <a:latin typeface="Calibri"/>
              </a:rPr>
              <a:t>en PHP. Il permet de déclarer, installer et mettre à jour les bibliothèques tierces d'un projet.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Shape 6"/>
          <p:cNvSpPr/>
          <p:nvPr/>
        </p:nvSpPr>
        <p:spPr>
          <a:xfrm>
            <a:off x="274320" y="2011680"/>
            <a:ext cx="8595000" cy="502560"/>
          </a:xfrm>
          <a:prstGeom prst="roundRect">
            <a:avLst>
              <a:gd name="adj" fmla="val 14545"/>
            </a:avLst>
          </a:prstGeom>
          <a:solidFill>
            <a:srgbClr val="1e293b"/>
          </a:solidFill>
          <a:ln w="12700">
            <a:solidFill>
              <a:srgbClr val="1d4ed8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Shape 7"/>
          <p:cNvSpPr/>
          <p:nvPr/>
        </p:nvSpPr>
        <p:spPr>
          <a:xfrm>
            <a:off x="320040" y="2048400"/>
            <a:ext cx="3017160" cy="420120"/>
          </a:xfrm>
          <a:prstGeom prst="roundRect">
            <a:avLst>
              <a:gd name="adj" fmla="val 13043"/>
            </a:avLst>
          </a:prstGeom>
          <a:solidFill>
            <a:srgbClr val="0d1117"/>
          </a:solidFill>
          <a:ln w="12700">
            <a:solidFill>
              <a:srgbClr val="1d4ed8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Text 8"/>
          <p:cNvSpPr/>
          <p:nvPr/>
        </p:nvSpPr>
        <p:spPr>
          <a:xfrm>
            <a:off x="411480" y="2048400"/>
            <a:ext cx="29257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d4ed8"/>
                </a:solidFill>
                <a:latin typeface="Courier New"/>
                <a:ea typeface="Courier New"/>
              </a:rPr>
              <a:t>composer init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Text 9"/>
          <p:cNvSpPr/>
          <p:nvPr/>
        </p:nvSpPr>
        <p:spPr>
          <a:xfrm>
            <a:off x="3474720" y="2011680"/>
            <a:ext cx="5303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1f5f9"/>
                </a:solidFill>
                <a:latin typeface="Calibri"/>
              </a:rPr>
              <a:t>Créer un nouveau projet (génère composer.json)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Shape 10"/>
          <p:cNvSpPr/>
          <p:nvPr/>
        </p:nvSpPr>
        <p:spPr>
          <a:xfrm>
            <a:off x="274320" y="2597040"/>
            <a:ext cx="8595000" cy="502560"/>
          </a:xfrm>
          <a:prstGeom prst="roundRect">
            <a:avLst>
              <a:gd name="adj" fmla="val 14545"/>
            </a:avLst>
          </a:prstGeom>
          <a:solidFill>
            <a:srgbClr val="1e293b"/>
          </a:solidFill>
          <a:ln w="12700">
            <a:solidFill>
              <a:srgbClr val="10b981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Shape 11"/>
          <p:cNvSpPr/>
          <p:nvPr/>
        </p:nvSpPr>
        <p:spPr>
          <a:xfrm>
            <a:off x="320040" y="2633400"/>
            <a:ext cx="3017160" cy="420120"/>
          </a:xfrm>
          <a:prstGeom prst="roundRect">
            <a:avLst>
              <a:gd name="adj" fmla="val 13043"/>
            </a:avLst>
          </a:prstGeom>
          <a:solidFill>
            <a:srgbClr val="0d1117"/>
          </a:solidFill>
          <a:ln w="12700">
            <a:solidFill>
              <a:srgbClr val="10b981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Text 12"/>
          <p:cNvSpPr/>
          <p:nvPr/>
        </p:nvSpPr>
        <p:spPr>
          <a:xfrm>
            <a:off x="411480" y="2633400"/>
            <a:ext cx="29257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0b981"/>
                </a:solidFill>
                <a:latin typeface="Courier New"/>
                <a:ea typeface="Courier New"/>
              </a:rPr>
              <a:t>composer require vendor/pkg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Text 13"/>
          <p:cNvSpPr/>
          <p:nvPr/>
        </p:nvSpPr>
        <p:spPr>
          <a:xfrm>
            <a:off x="3474720" y="2597040"/>
            <a:ext cx="5303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1f5f9"/>
                </a:solidFill>
                <a:latin typeface="Calibri"/>
              </a:rPr>
              <a:t>Ajouter une dépendance au projet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Shape 14"/>
          <p:cNvSpPr/>
          <p:nvPr/>
        </p:nvSpPr>
        <p:spPr>
          <a:xfrm>
            <a:off x="274320" y="3182040"/>
            <a:ext cx="8595000" cy="502560"/>
          </a:xfrm>
          <a:prstGeom prst="roundRect">
            <a:avLst>
              <a:gd name="adj" fmla="val 14545"/>
            </a:avLst>
          </a:prstGeom>
          <a:solidFill>
            <a:srgbClr val="1e293b"/>
          </a:solidFill>
          <a:ln w="12700">
            <a:solidFill>
              <a:srgbClr val="f59e0b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Shape 15"/>
          <p:cNvSpPr/>
          <p:nvPr/>
        </p:nvSpPr>
        <p:spPr>
          <a:xfrm>
            <a:off x="320040" y="3218760"/>
            <a:ext cx="3017160" cy="420120"/>
          </a:xfrm>
          <a:prstGeom prst="roundRect">
            <a:avLst>
              <a:gd name="adj" fmla="val 13043"/>
            </a:avLst>
          </a:prstGeom>
          <a:solidFill>
            <a:srgbClr val="0d1117"/>
          </a:solidFill>
          <a:ln w="12700">
            <a:solidFill>
              <a:srgbClr val="f59e0b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Text 16"/>
          <p:cNvSpPr/>
          <p:nvPr/>
        </p:nvSpPr>
        <p:spPr>
          <a:xfrm>
            <a:off x="411480" y="3218760"/>
            <a:ext cx="29257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59e0b"/>
                </a:solidFill>
                <a:latin typeface="Courier New"/>
                <a:ea typeface="Courier New"/>
              </a:rPr>
              <a:t>composer install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Text 17"/>
          <p:cNvSpPr/>
          <p:nvPr/>
        </p:nvSpPr>
        <p:spPr>
          <a:xfrm>
            <a:off x="3474720" y="3182040"/>
            <a:ext cx="5303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1f5f9"/>
                </a:solidFill>
                <a:latin typeface="Calibri"/>
              </a:rPr>
              <a:t>Installer toutes les dépendances (via composer.lock)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Shape 18"/>
          <p:cNvSpPr/>
          <p:nvPr/>
        </p:nvSpPr>
        <p:spPr>
          <a:xfrm>
            <a:off x="274320" y="3767400"/>
            <a:ext cx="8595000" cy="502560"/>
          </a:xfrm>
          <a:prstGeom prst="roundRect">
            <a:avLst>
              <a:gd name="adj" fmla="val 14545"/>
            </a:avLst>
          </a:prstGeom>
          <a:solidFill>
            <a:srgbClr val="1e293b"/>
          </a:solidFill>
          <a:ln w="12700">
            <a:solidFill>
              <a:srgbClr val="0ea5e9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Shape 19"/>
          <p:cNvSpPr/>
          <p:nvPr/>
        </p:nvSpPr>
        <p:spPr>
          <a:xfrm>
            <a:off x="320040" y="3803760"/>
            <a:ext cx="3017160" cy="420120"/>
          </a:xfrm>
          <a:prstGeom prst="roundRect">
            <a:avLst>
              <a:gd name="adj" fmla="val 13043"/>
            </a:avLst>
          </a:prstGeom>
          <a:solidFill>
            <a:srgbClr val="0d1117"/>
          </a:solidFill>
          <a:ln w="12700">
            <a:solidFill>
              <a:srgbClr val="0ea5e9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Text 20"/>
          <p:cNvSpPr/>
          <p:nvPr/>
        </p:nvSpPr>
        <p:spPr>
          <a:xfrm>
            <a:off x="411480" y="3803760"/>
            <a:ext cx="29257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ea5e9"/>
                </a:solidFill>
                <a:latin typeface="Courier New"/>
                <a:ea typeface="Courier New"/>
              </a:rPr>
              <a:t>composer update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Text 21"/>
          <p:cNvSpPr/>
          <p:nvPr/>
        </p:nvSpPr>
        <p:spPr>
          <a:xfrm>
            <a:off x="3474720" y="3767400"/>
            <a:ext cx="5303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1f5f9"/>
                </a:solidFill>
                <a:latin typeface="Calibri"/>
              </a:rPr>
              <a:t>Mettre à jour les dépendances selon composer.json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Shape 22"/>
          <p:cNvSpPr/>
          <p:nvPr/>
        </p:nvSpPr>
        <p:spPr>
          <a:xfrm>
            <a:off x="274320" y="4352400"/>
            <a:ext cx="8595000" cy="502560"/>
          </a:xfrm>
          <a:prstGeom prst="roundRect">
            <a:avLst>
              <a:gd name="adj" fmla="val 14545"/>
            </a:avLst>
          </a:prstGeom>
          <a:solidFill>
            <a:srgbClr val="1e293b"/>
          </a:solidFill>
          <a:ln w="12700">
            <a:solidFill>
              <a:srgbClr val="7c3aed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Shape 23"/>
          <p:cNvSpPr/>
          <p:nvPr/>
        </p:nvSpPr>
        <p:spPr>
          <a:xfrm>
            <a:off x="320040" y="4389120"/>
            <a:ext cx="3017160" cy="420120"/>
          </a:xfrm>
          <a:prstGeom prst="roundRect">
            <a:avLst>
              <a:gd name="adj" fmla="val 13043"/>
            </a:avLst>
          </a:prstGeom>
          <a:solidFill>
            <a:srgbClr val="0d1117"/>
          </a:solidFill>
          <a:ln w="12700">
            <a:solidFill>
              <a:srgbClr val="7c3aed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Text 24"/>
          <p:cNvSpPr/>
          <p:nvPr/>
        </p:nvSpPr>
        <p:spPr>
          <a:xfrm>
            <a:off x="411480" y="4389120"/>
            <a:ext cx="29257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7c3aed"/>
                </a:solidFill>
                <a:latin typeface="Courier New"/>
                <a:ea typeface="Courier New"/>
              </a:rPr>
              <a:t>composer dump-autoload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Text 25"/>
          <p:cNvSpPr/>
          <p:nvPr/>
        </p:nvSpPr>
        <p:spPr>
          <a:xfrm>
            <a:off x="3474720" y="4352400"/>
            <a:ext cx="5303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1f5f9"/>
                </a:solidFill>
                <a:latin typeface="Calibri"/>
              </a:rPr>
              <a:t>Régénérer l'autoloader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Shape 0"/>
          <p:cNvSpPr/>
          <p:nvPr/>
        </p:nvSpPr>
        <p:spPr>
          <a:xfrm>
            <a:off x="0" y="0"/>
            <a:ext cx="9143640" cy="1005480"/>
          </a:xfrm>
          <a:prstGeom prst="roundRect">
            <a:avLst>
              <a:gd name="adj" fmla="val 16667"/>
            </a:avLst>
          </a:prstGeom>
          <a:solidFill>
            <a:srgbClr val="2d1b00"/>
          </a:solidFill>
          <a:ln w="12700">
            <a:solidFill>
              <a:srgbClr val="2d1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Shape 1"/>
          <p:cNvSpPr/>
          <p:nvPr/>
        </p:nvSpPr>
        <p:spPr>
          <a:xfrm>
            <a:off x="182880" y="137160"/>
            <a:ext cx="731160" cy="7311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2"/>
          <p:cNvSpPr/>
          <p:nvPr/>
        </p:nvSpPr>
        <p:spPr>
          <a:xfrm>
            <a:off x="182880" y="13716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C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Text 3"/>
          <p:cNvSpPr/>
          <p:nvPr/>
        </p:nvSpPr>
        <p:spPr>
          <a:xfrm>
            <a:off x="1097280" y="137160"/>
            <a:ext cx="7772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</a:rPr>
              <a:t>composer.json &amp; Autoloading PSR-4</a:t>
            </a:r>
            <a:endParaRPr b="0" lang="fr-FR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Text 4"/>
          <p:cNvSpPr/>
          <p:nvPr/>
        </p:nvSpPr>
        <p:spPr>
          <a:xfrm>
            <a:off x="274320" y="1097280"/>
            <a:ext cx="4388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59e0b"/>
                </a:solidFill>
                <a:latin typeface="Calibri"/>
              </a:rPr>
              <a:t>Structure de composer.json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Shape 5"/>
          <p:cNvSpPr/>
          <p:nvPr/>
        </p:nvSpPr>
        <p:spPr>
          <a:xfrm>
            <a:off x="274320" y="1508760"/>
            <a:ext cx="4388760" cy="3291480"/>
          </a:xfrm>
          <a:prstGeom prst="roundRect">
            <a:avLst>
              <a:gd name="adj" fmla="val 2778"/>
            </a:avLst>
          </a:prstGeom>
          <a:solidFill>
            <a:srgbClr val="0d1117"/>
          </a:solidFill>
          <a:ln w="12700">
            <a:solidFill>
              <a:srgbClr val="94a3b8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Text 6"/>
          <p:cNvSpPr/>
          <p:nvPr/>
        </p:nvSpPr>
        <p:spPr>
          <a:xfrm>
            <a:off x="457200" y="1600200"/>
            <a:ext cx="411444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{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1100" spc="-1" strike="noStrike">
                <a:solidFill>
                  <a:srgbClr val="f59e0b"/>
                </a:solidFill>
                <a:latin typeface="Courier New"/>
                <a:ea typeface="Courier New"/>
              </a:rPr>
              <a:t>  </a:t>
            </a:r>
            <a:r>
              <a:rPr b="0" lang="en-US" sz="1100" spc="-1" strike="noStrike">
                <a:solidFill>
                  <a:srgbClr val="f59e0b"/>
                </a:solidFill>
                <a:latin typeface="Courier New"/>
                <a:ea typeface="Courier New"/>
              </a:rPr>
              <a:t>"name"</a:t>
            </a: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: "mon/projet",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1100" spc="-1" strike="noStrike">
                <a:solidFill>
                  <a:srgbClr val="f59e0b"/>
                </a:solidFill>
                <a:latin typeface="Courier New"/>
                <a:ea typeface="Courier New"/>
              </a:rPr>
              <a:t>  </a:t>
            </a:r>
            <a:r>
              <a:rPr b="0" lang="en-US" sz="1100" spc="-1" strike="noStrike">
                <a:solidFill>
                  <a:srgbClr val="f59e0b"/>
                </a:solidFill>
                <a:latin typeface="Courier New"/>
                <a:ea typeface="Courier New"/>
              </a:rPr>
              <a:t>"require"</a:t>
            </a: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: {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11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f59e0b"/>
                </a:solidFill>
                <a:latin typeface="Courier New"/>
                <a:ea typeface="Courier New"/>
              </a:rPr>
              <a:t>"php"</a:t>
            </a: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: </a:t>
            </a:r>
            <a:r>
              <a:rPr b="0" lang="en-US" sz="1100" spc="-1" strike="noStrike">
                <a:solidFill>
                  <a:srgbClr val="10b981"/>
                </a:solidFill>
                <a:latin typeface="Courier New"/>
                <a:ea typeface="Courier New"/>
              </a:rPr>
              <a:t>"&gt;=8.0"</a:t>
            </a: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,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1100" spc="-1" strike="noStrike">
                <a:solidFill>
                  <a:srgbClr val="f59e0b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f59e0b"/>
                </a:solidFill>
                <a:latin typeface="Courier New"/>
                <a:ea typeface="Courier New"/>
              </a:rPr>
              <a:t>"monolog/monolog"</a:t>
            </a: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: </a:t>
            </a:r>
            <a:r>
              <a:rPr b="0" lang="en-US" sz="1100" spc="-1" strike="noStrike">
                <a:solidFill>
                  <a:srgbClr val="10b981"/>
                </a:solidFill>
                <a:latin typeface="Courier New"/>
                <a:ea typeface="Courier New"/>
              </a:rPr>
              <a:t>"^3.0"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1100" spc="-1" strike="noStrike">
                <a:solidFill>
                  <a:srgbClr val="10b981"/>
                </a:solidFill>
                <a:latin typeface="Courier New"/>
                <a:ea typeface="Courier New"/>
              </a:rPr>
              <a:t>  </a:t>
            </a:r>
            <a:r>
              <a:rPr b="0" lang="en-US" sz="1100" spc="-1" strike="noStrike">
                <a:solidFill>
                  <a:srgbClr val="10b981"/>
                </a:solidFill>
                <a:latin typeface="Courier New"/>
                <a:ea typeface="Courier New"/>
              </a:rPr>
              <a:t>},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1100" spc="-1" strike="noStrike">
                <a:solidFill>
                  <a:srgbClr val="f59e0b"/>
                </a:solidFill>
                <a:latin typeface="Courier New"/>
                <a:ea typeface="Courier New"/>
              </a:rPr>
              <a:t>  </a:t>
            </a:r>
            <a:r>
              <a:rPr b="0" lang="en-US" sz="1100" spc="-1" strike="noStrike">
                <a:solidFill>
                  <a:srgbClr val="f59e0b"/>
                </a:solidFill>
                <a:latin typeface="Courier New"/>
                <a:ea typeface="Courier New"/>
              </a:rPr>
              <a:t>"autoload"</a:t>
            </a: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: {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ea5e9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0ea5e9"/>
                </a:solidFill>
                <a:latin typeface="Courier New"/>
                <a:ea typeface="Courier New"/>
              </a:rPr>
              <a:t>"psr-4"</a:t>
            </a: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: {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  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59e0b"/>
                </a:solidFill>
                <a:latin typeface="Courier New"/>
                <a:ea typeface="Courier New"/>
              </a:rPr>
              <a:t>"App\\"</a:t>
            </a: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: </a:t>
            </a:r>
            <a:r>
              <a:rPr b="0" lang="en-US" sz="1100" spc="-1" strike="noStrike">
                <a:solidFill>
                  <a:srgbClr val="10b981"/>
                </a:solidFill>
                <a:latin typeface="Courier New"/>
                <a:ea typeface="Courier New"/>
              </a:rPr>
              <a:t>"src/"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}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  </a:t>
            </a: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}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}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Text 7"/>
          <p:cNvSpPr/>
          <p:nvPr/>
        </p:nvSpPr>
        <p:spPr>
          <a:xfrm>
            <a:off x="4937760" y="1097280"/>
            <a:ext cx="3931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59e0b"/>
                </a:solidFill>
                <a:latin typeface="Calibri"/>
              </a:rPr>
              <a:t>Utiliser l'autoload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Shape 8"/>
          <p:cNvSpPr/>
          <p:nvPr/>
        </p:nvSpPr>
        <p:spPr>
          <a:xfrm>
            <a:off x="4937760" y="1508760"/>
            <a:ext cx="3931560" cy="1645560"/>
          </a:xfrm>
          <a:prstGeom prst="roundRect">
            <a:avLst>
              <a:gd name="adj" fmla="val 5556"/>
            </a:avLst>
          </a:prstGeom>
          <a:solidFill>
            <a:srgbClr val="0d1117"/>
          </a:solidFill>
          <a:ln w="12700">
            <a:solidFill>
              <a:srgbClr val="94a3b8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Text 9"/>
          <p:cNvSpPr/>
          <p:nvPr/>
        </p:nvSpPr>
        <p:spPr>
          <a:xfrm>
            <a:off x="5074920" y="1600200"/>
            <a:ext cx="36572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0" lang="en-US" sz="1100" spc="-1" strike="noStrike">
                <a:solidFill>
                  <a:srgbClr val="1d4ed8"/>
                </a:solidFill>
                <a:latin typeface="Courier New"/>
                <a:ea typeface="Courier New"/>
              </a:rPr>
              <a:t>require</a:t>
            </a: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 __DIR__ . </a:t>
            </a:r>
            <a:r>
              <a:rPr b="0" lang="en-US" sz="1100" spc="-1" strike="noStrike">
                <a:solidFill>
                  <a:srgbClr val="f59e0b"/>
                </a:solidFill>
                <a:latin typeface="Courier New"/>
                <a:ea typeface="Courier New"/>
              </a:rPr>
              <a:t>'/vendor/autoload.php';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1100" spc="-1" strike="noStrike">
                <a:solidFill>
                  <a:srgbClr val="1d4ed8"/>
                </a:solidFill>
                <a:latin typeface="Courier New"/>
                <a:ea typeface="Courier New"/>
              </a:rPr>
              <a:t>use</a:t>
            </a:r>
            <a:r>
              <a:rPr b="0" lang="en-US" sz="1100" spc="-1" strike="noStrike">
                <a:solidFill>
                  <a:srgbClr val="0ea5e9"/>
                </a:solidFill>
                <a:latin typeface="Courier New"/>
                <a:ea typeface="Courier New"/>
              </a:rPr>
              <a:t> Monolog\Logger;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1100" spc="-1" strike="noStrike">
                <a:solidFill>
                  <a:srgbClr val="1d4ed8"/>
                </a:solidFill>
                <a:latin typeface="Courier New"/>
                <a:ea typeface="Courier New"/>
              </a:rPr>
              <a:t>use</a:t>
            </a:r>
            <a:r>
              <a:rPr b="0" lang="en-US" sz="1100" spc="-1" strike="noStrike">
                <a:solidFill>
                  <a:srgbClr val="0ea5e9"/>
                </a:solidFill>
                <a:latin typeface="Courier New"/>
                <a:ea typeface="Courier New"/>
              </a:rPr>
              <a:t> Monolog\Handler\StreamHandler;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ea5e9"/>
                </a:solidFill>
                <a:latin typeface="Courier New"/>
                <a:ea typeface="Courier New"/>
              </a:rPr>
              <a:t>$log</a:t>
            </a: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 = new Logger(</a:t>
            </a:r>
            <a:r>
              <a:rPr b="0" lang="en-US" sz="1100" spc="-1" strike="noStrike">
                <a:solidFill>
                  <a:srgbClr val="f59e0b"/>
                </a:solidFill>
                <a:latin typeface="Courier New"/>
                <a:ea typeface="Courier New"/>
              </a:rPr>
              <a:t>'app'</a:t>
            </a:r>
            <a:r>
              <a:rPr b="0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);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Shape 10"/>
          <p:cNvSpPr/>
          <p:nvPr/>
        </p:nvSpPr>
        <p:spPr>
          <a:xfrm>
            <a:off x="4937760" y="3291840"/>
            <a:ext cx="3931560" cy="347040"/>
          </a:xfrm>
          <a:prstGeom prst="roundRect">
            <a:avLst>
              <a:gd name="adj" fmla="val 21053"/>
            </a:avLst>
          </a:prstGeom>
          <a:solidFill>
            <a:srgbClr val="1e293b"/>
          </a:solidFill>
          <a:ln w="12700">
            <a:solidFill>
              <a:srgbClr val="10b981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Shape 11"/>
          <p:cNvSpPr/>
          <p:nvPr/>
        </p:nvSpPr>
        <p:spPr>
          <a:xfrm>
            <a:off x="5029200" y="3346560"/>
            <a:ext cx="228240" cy="2282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Text 12"/>
          <p:cNvSpPr/>
          <p:nvPr/>
        </p:nvSpPr>
        <p:spPr>
          <a:xfrm>
            <a:off x="5349240" y="3291840"/>
            <a:ext cx="34286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1f5f9"/>
                </a:solidFill>
                <a:latin typeface="Calibri"/>
              </a:rPr>
              <a:t>Versioning sémantique  (^, ~, &gt;=)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Shape 13"/>
          <p:cNvSpPr/>
          <p:nvPr/>
        </p:nvSpPr>
        <p:spPr>
          <a:xfrm>
            <a:off x="4937760" y="3703320"/>
            <a:ext cx="3931560" cy="347040"/>
          </a:xfrm>
          <a:prstGeom prst="roundRect">
            <a:avLst>
              <a:gd name="adj" fmla="val 21053"/>
            </a:avLst>
          </a:prstGeom>
          <a:solidFill>
            <a:srgbClr val="1e293b"/>
          </a:solidFill>
          <a:ln w="12700">
            <a:solidFill>
              <a:srgbClr val="0ea5e9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Shape 14"/>
          <p:cNvSpPr/>
          <p:nvPr/>
        </p:nvSpPr>
        <p:spPr>
          <a:xfrm>
            <a:off x="5029200" y="3758040"/>
            <a:ext cx="228240" cy="2282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Text 15"/>
          <p:cNvSpPr/>
          <p:nvPr/>
        </p:nvSpPr>
        <p:spPr>
          <a:xfrm>
            <a:off x="5349240" y="3703320"/>
            <a:ext cx="34286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1f5f9"/>
                </a:solidFill>
                <a:latin typeface="Calibri"/>
              </a:rPr>
              <a:t>Autoloading PSR-4 automatique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Shape 16"/>
          <p:cNvSpPr/>
          <p:nvPr/>
        </p:nvSpPr>
        <p:spPr>
          <a:xfrm>
            <a:off x="4937760" y="4114800"/>
            <a:ext cx="3931560" cy="347040"/>
          </a:xfrm>
          <a:prstGeom prst="roundRect">
            <a:avLst>
              <a:gd name="adj" fmla="val 21053"/>
            </a:avLst>
          </a:prstGeom>
          <a:solidFill>
            <a:srgbClr val="1e293b"/>
          </a:solidFill>
          <a:ln w="12700">
            <a:solidFill>
              <a:srgbClr val="1d4ed8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Shape 17"/>
          <p:cNvSpPr/>
          <p:nvPr/>
        </p:nvSpPr>
        <p:spPr>
          <a:xfrm>
            <a:off x="5029200" y="4169520"/>
            <a:ext cx="228240" cy="2282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Text 18"/>
          <p:cNvSpPr/>
          <p:nvPr/>
        </p:nvSpPr>
        <p:spPr>
          <a:xfrm>
            <a:off x="5349240" y="4114800"/>
            <a:ext cx="34286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1f5f9"/>
                </a:solidFill>
                <a:latin typeface="Calibri"/>
              </a:rPr>
              <a:t>Fichier lock pour reproductibilité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Shape 19"/>
          <p:cNvSpPr/>
          <p:nvPr/>
        </p:nvSpPr>
        <p:spPr>
          <a:xfrm>
            <a:off x="4937760" y="4526280"/>
            <a:ext cx="3931560" cy="347040"/>
          </a:xfrm>
          <a:prstGeom prst="roundRect">
            <a:avLst>
              <a:gd name="adj" fmla="val 21053"/>
            </a:avLst>
          </a:prstGeom>
          <a:solidFill>
            <a:srgbClr val="1e293b"/>
          </a:solidFill>
          <a:ln w="12700">
            <a:solidFill>
              <a:srgbClr val="7c3aed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Shape 20"/>
          <p:cNvSpPr/>
          <p:nvPr/>
        </p:nvSpPr>
        <p:spPr>
          <a:xfrm>
            <a:off x="5029200" y="4581000"/>
            <a:ext cx="228240" cy="2282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Text 21"/>
          <p:cNvSpPr/>
          <p:nvPr/>
        </p:nvSpPr>
        <p:spPr>
          <a:xfrm>
            <a:off x="5349240" y="4526280"/>
            <a:ext cx="34286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1f5f9"/>
                </a:solidFill>
                <a:latin typeface="Calibri"/>
              </a:rPr>
              <a:t>Scripts personnalisés (scripts)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hape 0"/>
          <p:cNvSpPr/>
          <p:nvPr/>
        </p:nvSpPr>
        <p:spPr>
          <a:xfrm>
            <a:off x="0" y="0"/>
            <a:ext cx="9143640" cy="1005480"/>
          </a:xfrm>
          <a:prstGeom prst="roundRect">
            <a:avLst>
              <a:gd name="adj" fmla="val 16667"/>
            </a:avLst>
          </a:prstGeom>
          <a:solidFill>
            <a:srgbClr val="001d2d"/>
          </a:solidFill>
          <a:ln w="12700">
            <a:solidFill>
              <a:srgbClr val="001d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Shape 1"/>
          <p:cNvSpPr/>
          <p:nvPr/>
        </p:nvSpPr>
        <p:spPr>
          <a:xfrm>
            <a:off x="182880" y="137160"/>
            <a:ext cx="731160" cy="73116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Text 2"/>
          <p:cNvSpPr/>
          <p:nvPr/>
        </p:nvSpPr>
        <p:spPr>
          <a:xfrm>
            <a:off x="182880" y="13716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f172a"/>
                </a:solidFill>
                <a:latin typeface="Calibri"/>
              </a:rPr>
              <a:t>D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Text 3"/>
          <p:cNvSpPr/>
          <p:nvPr/>
        </p:nvSpPr>
        <p:spPr>
          <a:xfrm>
            <a:off x="1097280" y="137160"/>
            <a:ext cx="7772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</a:rPr>
              <a:t>Packagist.org — L'Écosystème PHP</a:t>
            </a:r>
            <a:endParaRPr b="0" lang="fr-FR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Shape 4"/>
          <p:cNvSpPr/>
          <p:nvPr/>
        </p:nvSpPr>
        <p:spPr>
          <a:xfrm>
            <a:off x="274320" y="1097280"/>
            <a:ext cx="8595000" cy="73116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2700">
            <a:solidFill>
              <a:srgbClr val="0ea5e9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Text 5"/>
          <p:cNvSpPr/>
          <p:nvPr/>
        </p:nvSpPr>
        <p:spPr>
          <a:xfrm>
            <a:off x="457200" y="11430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ea5e9"/>
                </a:solidFill>
                <a:latin typeface="Calibri"/>
              </a:rPr>
              <a:t>packagist.org </a:t>
            </a:r>
            <a:r>
              <a:rPr b="0" lang="en-US" sz="1300" spc="-1" strike="noStrike">
                <a:solidFill>
                  <a:srgbClr val="f1f5f9"/>
                </a:solidFill>
                <a:latin typeface="Calibri"/>
              </a:rPr>
              <a:t>est le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registre officiel </a:t>
            </a:r>
            <a:r>
              <a:rPr b="0" lang="en-US" sz="1300" spc="-1" strike="noStrike">
                <a:solidFill>
                  <a:srgbClr val="f1f5f9"/>
                </a:solidFill>
                <a:latin typeface="Calibri"/>
              </a:rPr>
              <a:t>de packages PHP. Composer l'utilise comme source par défaut pour trouver et télécharger des bibliothèques.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Shape 6"/>
          <p:cNvSpPr/>
          <p:nvPr/>
        </p:nvSpPr>
        <p:spPr>
          <a:xfrm>
            <a:off x="365760" y="1920240"/>
            <a:ext cx="2651400" cy="127980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 w="12700">
            <a:solidFill>
              <a:srgbClr val="0ea5e9">
                <a:alpha val="60000"/>
              </a:srgbClr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Text 7"/>
          <p:cNvSpPr/>
          <p:nvPr/>
        </p:nvSpPr>
        <p:spPr>
          <a:xfrm>
            <a:off x="365760" y="2011680"/>
            <a:ext cx="2651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0ea5e9"/>
                </a:solidFill>
                <a:latin typeface="Calibri"/>
              </a:rPr>
              <a:t>380 000+</a:t>
            </a:r>
            <a:endParaRPr b="0" lang="fr-FR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Text 8"/>
          <p:cNvSpPr/>
          <p:nvPr/>
        </p:nvSpPr>
        <p:spPr>
          <a:xfrm>
            <a:off x="365760" y="2651760"/>
            <a:ext cx="2651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</a:rPr>
              <a:t>Packages disponibles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Shape 9"/>
          <p:cNvSpPr/>
          <p:nvPr/>
        </p:nvSpPr>
        <p:spPr>
          <a:xfrm>
            <a:off x="3291840" y="1920240"/>
            <a:ext cx="2651400" cy="127980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 w="12700">
            <a:solidFill>
              <a:srgbClr val="10b981">
                <a:alpha val="60000"/>
              </a:srgbClr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Text 10"/>
          <p:cNvSpPr/>
          <p:nvPr/>
        </p:nvSpPr>
        <p:spPr>
          <a:xfrm>
            <a:off x="3291840" y="2011680"/>
            <a:ext cx="2651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0b981"/>
                </a:solidFill>
                <a:latin typeface="Calibri"/>
              </a:rPr>
              <a:t>3 milliards+</a:t>
            </a:r>
            <a:endParaRPr b="0" lang="fr-FR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Text 11"/>
          <p:cNvSpPr/>
          <p:nvPr/>
        </p:nvSpPr>
        <p:spPr>
          <a:xfrm>
            <a:off x="3291840" y="2651760"/>
            <a:ext cx="2651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</a:rPr>
              <a:t>Installations / mois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Shape 12"/>
          <p:cNvSpPr/>
          <p:nvPr/>
        </p:nvSpPr>
        <p:spPr>
          <a:xfrm>
            <a:off x="6217920" y="1920240"/>
            <a:ext cx="2651400" cy="127980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 w="12700">
            <a:solidFill>
              <a:srgbClr val="f59e0b">
                <a:alpha val="60000"/>
              </a:srgbClr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Text 13"/>
          <p:cNvSpPr/>
          <p:nvPr/>
        </p:nvSpPr>
        <p:spPr>
          <a:xfrm>
            <a:off x="6217920" y="2011680"/>
            <a:ext cx="2651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59e0b"/>
                </a:solidFill>
                <a:latin typeface="Calibri"/>
              </a:rPr>
              <a:t>100%</a:t>
            </a:r>
            <a:endParaRPr b="0" lang="fr-FR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Text 14"/>
          <p:cNvSpPr/>
          <p:nvPr/>
        </p:nvSpPr>
        <p:spPr>
          <a:xfrm>
            <a:off x="6217920" y="2651760"/>
            <a:ext cx="2651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</a:rPr>
              <a:t>Open Source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Text 15"/>
          <p:cNvSpPr/>
          <p:nvPr/>
        </p:nvSpPr>
        <p:spPr>
          <a:xfrm>
            <a:off x="274320" y="3291840"/>
            <a:ext cx="8595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Packages incontournables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Shape 16"/>
          <p:cNvSpPr/>
          <p:nvPr/>
        </p:nvSpPr>
        <p:spPr>
          <a:xfrm>
            <a:off x="274320" y="3749040"/>
            <a:ext cx="2834280" cy="502560"/>
          </a:xfrm>
          <a:prstGeom prst="roundRect">
            <a:avLst>
              <a:gd name="adj" fmla="val 14545"/>
            </a:avLst>
          </a:prstGeom>
          <a:solidFill>
            <a:srgbClr val="1e293b"/>
          </a:solidFill>
          <a:ln w="12700">
            <a:solidFill>
              <a:srgbClr val="1d4ed8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Shape 17"/>
          <p:cNvSpPr/>
          <p:nvPr/>
        </p:nvSpPr>
        <p:spPr>
          <a:xfrm>
            <a:off x="365760" y="3858840"/>
            <a:ext cx="273960" cy="27396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Text 18"/>
          <p:cNvSpPr/>
          <p:nvPr/>
        </p:nvSpPr>
        <p:spPr>
          <a:xfrm>
            <a:off x="777240" y="3749040"/>
            <a:ext cx="1645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guzzlehttp/guzzle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Text 19"/>
          <p:cNvSpPr/>
          <p:nvPr/>
        </p:nvSpPr>
        <p:spPr>
          <a:xfrm>
            <a:off x="2423160" y="3749040"/>
            <a:ext cx="594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</a:rPr>
              <a:t>Client HTTP puissant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Shape 20"/>
          <p:cNvSpPr/>
          <p:nvPr/>
        </p:nvSpPr>
        <p:spPr>
          <a:xfrm>
            <a:off x="3246120" y="3749040"/>
            <a:ext cx="2834280" cy="502560"/>
          </a:xfrm>
          <a:prstGeom prst="roundRect">
            <a:avLst>
              <a:gd name="adj" fmla="val 14545"/>
            </a:avLst>
          </a:prstGeom>
          <a:solidFill>
            <a:srgbClr val="1e293b"/>
          </a:solidFill>
          <a:ln w="12700">
            <a:solidFill>
              <a:srgbClr val="f59e0b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Shape 21"/>
          <p:cNvSpPr/>
          <p:nvPr/>
        </p:nvSpPr>
        <p:spPr>
          <a:xfrm>
            <a:off x="3337560" y="3858840"/>
            <a:ext cx="273960" cy="2739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 22"/>
          <p:cNvSpPr/>
          <p:nvPr/>
        </p:nvSpPr>
        <p:spPr>
          <a:xfrm>
            <a:off x="3749040" y="3749040"/>
            <a:ext cx="1645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monolog/monolog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Text 23"/>
          <p:cNvSpPr/>
          <p:nvPr/>
        </p:nvSpPr>
        <p:spPr>
          <a:xfrm>
            <a:off x="5394960" y="3749040"/>
            <a:ext cx="594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</a:rPr>
              <a:t>Logging flexible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Shape 24"/>
          <p:cNvSpPr/>
          <p:nvPr/>
        </p:nvSpPr>
        <p:spPr>
          <a:xfrm>
            <a:off x="6217920" y="3749040"/>
            <a:ext cx="2834280" cy="502560"/>
          </a:xfrm>
          <a:prstGeom prst="roundRect">
            <a:avLst>
              <a:gd name="adj" fmla="val 14545"/>
            </a:avLst>
          </a:prstGeom>
          <a:solidFill>
            <a:srgbClr val="1e293b"/>
          </a:solidFill>
          <a:ln w="12700">
            <a:solidFill>
              <a:srgbClr val="7c3aed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Shape 25"/>
          <p:cNvSpPr/>
          <p:nvPr/>
        </p:nvSpPr>
        <p:spPr>
          <a:xfrm>
            <a:off x="6309360" y="3858840"/>
            <a:ext cx="273960" cy="2739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Text 26"/>
          <p:cNvSpPr/>
          <p:nvPr/>
        </p:nvSpPr>
        <p:spPr>
          <a:xfrm>
            <a:off x="6720840" y="3749040"/>
            <a:ext cx="1645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symfony/console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Text 27"/>
          <p:cNvSpPr/>
          <p:nvPr/>
        </p:nvSpPr>
        <p:spPr>
          <a:xfrm>
            <a:off x="8366760" y="3749040"/>
            <a:ext cx="594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</a:rPr>
              <a:t>CLI &amp; commandes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Shape 28"/>
          <p:cNvSpPr/>
          <p:nvPr/>
        </p:nvSpPr>
        <p:spPr>
          <a:xfrm>
            <a:off x="274320" y="4343400"/>
            <a:ext cx="2834280" cy="502560"/>
          </a:xfrm>
          <a:prstGeom prst="roundRect">
            <a:avLst>
              <a:gd name="adj" fmla="val 14545"/>
            </a:avLst>
          </a:prstGeom>
          <a:solidFill>
            <a:srgbClr val="1e293b"/>
          </a:solidFill>
          <a:ln w="12700">
            <a:solidFill>
              <a:srgbClr val="10b981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Shape 29"/>
          <p:cNvSpPr/>
          <p:nvPr/>
        </p:nvSpPr>
        <p:spPr>
          <a:xfrm>
            <a:off x="365760" y="4453200"/>
            <a:ext cx="273960" cy="2739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Text 30"/>
          <p:cNvSpPr/>
          <p:nvPr/>
        </p:nvSpPr>
        <p:spPr>
          <a:xfrm>
            <a:off x="777240" y="4343400"/>
            <a:ext cx="1645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laravel/laravel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Text 31"/>
          <p:cNvSpPr/>
          <p:nvPr/>
        </p:nvSpPr>
        <p:spPr>
          <a:xfrm>
            <a:off x="2423160" y="4343400"/>
            <a:ext cx="594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</a:rPr>
              <a:t>Framework MVC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Shape 32"/>
          <p:cNvSpPr/>
          <p:nvPr/>
        </p:nvSpPr>
        <p:spPr>
          <a:xfrm>
            <a:off x="3246120" y="4343400"/>
            <a:ext cx="2834280" cy="502560"/>
          </a:xfrm>
          <a:prstGeom prst="roundRect">
            <a:avLst>
              <a:gd name="adj" fmla="val 14545"/>
            </a:avLst>
          </a:prstGeom>
          <a:solidFill>
            <a:srgbClr val="1e293b"/>
          </a:solidFill>
          <a:ln w="12700">
            <a:solidFill>
              <a:srgbClr val="0ea5e9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Shape 33"/>
          <p:cNvSpPr/>
          <p:nvPr/>
        </p:nvSpPr>
        <p:spPr>
          <a:xfrm>
            <a:off x="3337560" y="4453200"/>
            <a:ext cx="273960" cy="27396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Text 34"/>
          <p:cNvSpPr/>
          <p:nvPr/>
        </p:nvSpPr>
        <p:spPr>
          <a:xfrm>
            <a:off x="3749040" y="4343400"/>
            <a:ext cx="1645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doctrine/orm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Text 35"/>
          <p:cNvSpPr/>
          <p:nvPr/>
        </p:nvSpPr>
        <p:spPr>
          <a:xfrm>
            <a:off x="5394960" y="4343400"/>
            <a:ext cx="594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</a:rPr>
              <a:t>Mapping ORM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Shape 36"/>
          <p:cNvSpPr/>
          <p:nvPr/>
        </p:nvSpPr>
        <p:spPr>
          <a:xfrm>
            <a:off x="6217920" y="4343400"/>
            <a:ext cx="2834280" cy="502560"/>
          </a:xfrm>
          <a:prstGeom prst="roundRect">
            <a:avLst>
              <a:gd name="adj" fmla="val 14545"/>
            </a:avLst>
          </a:prstGeom>
          <a:solidFill>
            <a:srgbClr val="1e293b"/>
          </a:solidFill>
          <a:ln w="12700">
            <a:solidFill>
              <a:srgbClr val="f59e0b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Shape 37"/>
          <p:cNvSpPr/>
          <p:nvPr/>
        </p:nvSpPr>
        <p:spPr>
          <a:xfrm>
            <a:off x="6309360" y="4453200"/>
            <a:ext cx="273960" cy="2739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Text 38"/>
          <p:cNvSpPr/>
          <p:nvPr/>
        </p:nvSpPr>
        <p:spPr>
          <a:xfrm>
            <a:off x="6720840" y="4343400"/>
            <a:ext cx="1645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phpunit/phpunit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Text 39"/>
          <p:cNvSpPr/>
          <p:nvPr/>
        </p:nvSpPr>
        <p:spPr>
          <a:xfrm>
            <a:off x="8366760" y="4343400"/>
            <a:ext cx="594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</a:rPr>
              <a:t>Tests unitaires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Shape 0"/>
          <p:cNvSpPr/>
          <p:nvPr/>
        </p:nvSpPr>
        <p:spPr>
          <a:xfrm>
            <a:off x="0" y="0"/>
            <a:ext cx="9143640" cy="1005480"/>
          </a:xfrm>
          <a:prstGeom prst="roundRect">
            <a:avLst>
              <a:gd name="adj" fmla="val 16667"/>
            </a:avLst>
          </a:prstGeom>
          <a:solidFill>
            <a:srgbClr val="001d2d"/>
          </a:solidFill>
          <a:ln w="12700">
            <a:solidFill>
              <a:srgbClr val="001d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Shape 1"/>
          <p:cNvSpPr/>
          <p:nvPr/>
        </p:nvSpPr>
        <p:spPr>
          <a:xfrm>
            <a:off x="182880" y="137160"/>
            <a:ext cx="731160" cy="73116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Text 2"/>
          <p:cNvSpPr/>
          <p:nvPr/>
        </p:nvSpPr>
        <p:spPr>
          <a:xfrm>
            <a:off x="182880" y="13716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f172a"/>
                </a:solidFill>
                <a:latin typeface="Calibri"/>
              </a:rPr>
              <a:t>D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Text 3"/>
          <p:cNvSpPr/>
          <p:nvPr/>
        </p:nvSpPr>
        <p:spPr>
          <a:xfrm>
            <a:off x="1097280" y="137160"/>
            <a:ext cx="7772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</a:rPr>
              <a:t>Publier &amp; Versioning Sémantique</a:t>
            </a:r>
            <a:endParaRPr b="0" lang="fr-FR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Text 4"/>
          <p:cNvSpPr/>
          <p:nvPr/>
        </p:nvSpPr>
        <p:spPr>
          <a:xfrm>
            <a:off x="274320" y="1097280"/>
            <a:ext cx="8595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ea5e9"/>
                </a:solidFill>
                <a:latin typeface="Calibri"/>
              </a:rPr>
              <a:t>Comment publier un package sur Packagist ?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Shape 5"/>
          <p:cNvSpPr/>
          <p:nvPr/>
        </p:nvSpPr>
        <p:spPr>
          <a:xfrm>
            <a:off x="274320" y="1600200"/>
            <a:ext cx="411120" cy="41112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Text 6"/>
          <p:cNvSpPr/>
          <p:nvPr/>
        </p:nvSpPr>
        <p:spPr>
          <a:xfrm>
            <a:off x="274320" y="160020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1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Shape 7"/>
          <p:cNvSpPr/>
          <p:nvPr/>
        </p:nvSpPr>
        <p:spPr>
          <a:xfrm>
            <a:off x="822960" y="1600200"/>
            <a:ext cx="8046360" cy="411120"/>
          </a:xfrm>
          <a:prstGeom prst="roundRect">
            <a:avLst>
              <a:gd name="adj" fmla="val 17778"/>
            </a:avLst>
          </a:prstGeom>
          <a:solidFill>
            <a:srgbClr val="1e293b"/>
          </a:solidFill>
          <a:ln w="12700">
            <a:solidFill>
              <a:srgbClr val="1d4ed8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Text 8"/>
          <p:cNvSpPr/>
          <p:nvPr/>
        </p:nvSpPr>
        <p:spPr>
          <a:xfrm>
            <a:off x="1005840" y="1600200"/>
            <a:ext cx="7772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1f5f9"/>
                </a:solidFill>
                <a:latin typeface="Calibri"/>
              </a:rPr>
              <a:t>Créer un dépôt GitHub avec composer.json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" name="Shape 9"/>
          <p:cNvSpPr/>
          <p:nvPr/>
        </p:nvSpPr>
        <p:spPr>
          <a:xfrm>
            <a:off x="274320" y="2148840"/>
            <a:ext cx="411120" cy="4111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Text 10"/>
          <p:cNvSpPr/>
          <p:nvPr/>
        </p:nvSpPr>
        <p:spPr>
          <a:xfrm>
            <a:off x="274320" y="214884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Shape 11"/>
          <p:cNvSpPr/>
          <p:nvPr/>
        </p:nvSpPr>
        <p:spPr>
          <a:xfrm>
            <a:off x="822960" y="2148840"/>
            <a:ext cx="8046360" cy="411120"/>
          </a:xfrm>
          <a:prstGeom prst="roundRect">
            <a:avLst>
              <a:gd name="adj" fmla="val 17778"/>
            </a:avLst>
          </a:prstGeom>
          <a:solidFill>
            <a:srgbClr val="1e293b"/>
          </a:solidFill>
          <a:ln w="12700">
            <a:solidFill>
              <a:srgbClr val="7c3aed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Text 12"/>
          <p:cNvSpPr/>
          <p:nvPr/>
        </p:nvSpPr>
        <p:spPr>
          <a:xfrm>
            <a:off x="1005840" y="2148840"/>
            <a:ext cx="7772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1f5f9"/>
                </a:solidFill>
                <a:latin typeface="Calibri"/>
              </a:rPr>
              <a:t>Créer un compte sur packagist.org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Shape 13"/>
          <p:cNvSpPr/>
          <p:nvPr/>
        </p:nvSpPr>
        <p:spPr>
          <a:xfrm>
            <a:off x="274320" y="2697480"/>
            <a:ext cx="411120" cy="4111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" name="Text 14"/>
          <p:cNvSpPr/>
          <p:nvPr/>
        </p:nvSpPr>
        <p:spPr>
          <a:xfrm>
            <a:off x="274320" y="269748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Shape 15"/>
          <p:cNvSpPr/>
          <p:nvPr/>
        </p:nvSpPr>
        <p:spPr>
          <a:xfrm>
            <a:off x="822960" y="2697480"/>
            <a:ext cx="8046360" cy="411120"/>
          </a:xfrm>
          <a:prstGeom prst="roundRect">
            <a:avLst>
              <a:gd name="adj" fmla="val 17778"/>
            </a:avLst>
          </a:prstGeom>
          <a:solidFill>
            <a:srgbClr val="1e293b"/>
          </a:solidFill>
          <a:ln w="12700">
            <a:solidFill>
              <a:srgbClr val="10b981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" name="Text 16"/>
          <p:cNvSpPr/>
          <p:nvPr/>
        </p:nvSpPr>
        <p:spPr>
          <a:xfrm>
            <a:off x="1005840" y="2697480"/>
            <a:ext cx="7772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1f5f9"/>
                </a:solidFill>
                <a:latin typeface="Calibri"/>
              </a:rPr>
              <a:t>Soumettre l'URL du dépôt via le formulaire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Shape 17"/>
          <p:cNvSpPr/>
          <p:nvPr/>
        </p:nvSpPr>
        <p:spPr>
          <a:xfrm>
            <a:off x="274320" y="3246120"/>
            <a:ext cx="411120" cy="4111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Text 18"/>
          <p:cNvSpPr/>
          <p:nvPr/>
        </p:nvSpPr>
        <p:spPr>
          <a:xfrm>
            <a:off x="274320" y="324612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4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Shape 19"/>
          <p:cNvSpPr/>
          <p:nvPr/>
        </p:nvSpPr>
        <p:spPr>
          <a:xfrm>
            <a:off x="822960" y="3246120"/>
            <a:ext cx="8046360" cy="411120"/>
          </a:xfrm>
          <a:prstGeom prst="roundRect">
            <a:avLst>
              <a:gd name="adj" fmla="val 17778"/>
            </a:avLst>
          </a:prstGeom>
          <a:solidFill>
            <a:srgbClr val="1e293b"/>
          </a:solidFill>
          <a:ln w="12700">
            <a:solidFill>
              <a:srgbClr val="f59e0b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Text 20"/>
          <p:cNvSpPr/>
          <p:nvPr/>
        </p:nvSpPr>
        <p:spPr>
          <a:xfrm>
            <a:off x="1005840" y="3246120"/>
            <a:ext cx="7772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1f5f9"/>
                </a:solidFill>
                <a:latin typeface="Calibri"/>
              </a:rPr>
              <a:t>Activer le webhook GitHub pour les mises à jour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" name="Text 21"/>
          <p:cNvSpPr/>
          <p:nvPr/>
        </p:nvSpPr>
        <p:spPr>
          <a:xfrm>
            <a:off x="274320" y="3840480"/>
            <a:ext cx="8595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Versioning Sémantique  (SemVer)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Shape 22"/>
          <p:cNvSpPr/>
          <p:nvPr/>
        </p:nvSpPr>
        <p:spPr>
          <a:xfrm>
            <a:off x="274320" y="4251960"/>
            <a:ext cx="8595000" cy="173520"/>
          </a:xfrm>
          <a:prstGeom prst="roundRect">
            <a:avLst>
              <a:gd name="adj" fmla="val 26316"/>
            </a:avLst>
          </a:prstGeom>
          <a:solidFill>
            <a:srgbClr val="1e293b"/>
          </a:solidFill>
          <a:ln w="12700">
            <a:solidFill>
              <a:srgbClr val="10b981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Text 23"/>
          <p:cNvSpPr/>
          <p:nvPr/>
        </p:nvSpPr>
        <p:spPr>
          <a:xfrm>
            <a:off x="411480" y="4251960"/>
            <a:ext cx="18284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0b981"/>
                </a:solidFill>
                <a:latin typeface="Courier New"/>
                <a:ea typeface="Courier New"/>
              </a:rPr>
              <a:t>^1.2.3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Text 24"/>
          <p:cNvSpPr/>
          <p:nvPr/>
        </p:nvSpPr>
        <p:spPr>
          <a:xfrm>
            <a:off x="2286000" y="4251960"/>
            <a:ext cx="64004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1f5f9"/>
                </a:solidFill>
                <a:latin typeface="Calibri"/>
              </a:rPr>
              <a:t>Autorise  ≥1.2.3  et  &lt;2.0.0  (compatibilité majeure)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Shape 25"/>
          <p:cNvSpPr/>
          <p:nvPr/>
        </p:nvSpPr>
        <p:spPr>
          <a:xfrm>
            <a:off x="274320" y="4453200"/>
            <a:ext cx="8595000" cy="173520"/>
          </a:xfrm>
          <a:prstGeom prst="roundRect">
            <a:avLst>
              <a:gd name="adj" fmla="val 26316"/>
            </a:avLst>
          </a:prstGeom>
          <a:solidFill>
            <a:srgbClr val="1e293b"/>
          </a:solidFill>
          <a:ln w="12700">
            <a:solidFill>
              <a:srgbClr val="1d4ed8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Text 26"/>
          <p:cNvSpPr/>
          <p:nvPr/>
        </p:nvSpPr>
        <p:spPr>
          <a:xfrm>
            <a:off x="411480" y="4453200"/>
            <a:ext cx="18284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d4ed8"/>
                </a:solidFill>
                <a:latin typeface="Courier New"/>
                <a:ea typeface="Courier New"/>
              </a:rPr>
              <a:t>~1.2.3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Text 27"/>
          <p:cNvSpPr/>
          <p:nvPr/>
        </p:nvSpPr>
        <p:spPr>
          <a:xfrm>
            <a:off x="2286000" y="4453200"/>
            <a:ext cx="64004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1f5f9"/>
                </a:solidFill>
                <a:latin typeface="Calibri"/>
              </a:rPr>
              <a:t>Autorise  ≥1.2.3  et  &lt;1.3.0  (compatibilité mineure)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" name="Shape 28"/>
          <p:cNvSpPr/>
          <p:nvPr/>
        </p:nvSpPr>
        <p:spPr>
          <a:xfrm>
            <a:off x="274320" y="4654440"/>
            <a:ext cx="8595000" cy="173520"/>
          </a:xfrm>
          <a:prstGeom prst="roundRect">
            <a:avLst>
              <a:gd name="adj" fmla="val 26316"/>
            </a:avLst>
          </a:prstGeom>
          <a:solidFill>
            <a:srgbClr val="1e293b"/>
          </a:solidFill>
          <a:ln w="12700">
            <a:solidFill>
              <a:srgbClr val="f59e0b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" name="Text 29"/>
          <p:cNvSpPr/>
          <p:nvPr/>
        </p:nvSpPr>
        <p:spPr>
          <a:xfrm>
            <a:off x="411480" y="4654440"/>
            <a:ext cx="18284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59e0b"/>
                </a:solidFill>
                <a:latin typeface="Courier New"/>
                <a:ea typeface="Courier New"/>
              </a:rPr>
              <a:t>1.2.*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Text 30"/>
          <p:cNvSpPr/>
          <p:nvPr/>
        </p:nvSpPr>
        <p:spPr>
          <a:xfrm>
            <a:off x="2286000" y="4654440"/>
            <a:ext cx="64004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1f5f9"/>
                </a:solidFill>
                <a:latin typeface="Calibri"/>
              </a:rPr>
              <a:t>Toute version  1.2.x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Shape 31"/>
          <p:cNvSpPr/>
          <p:nvPr/>
        </p:nvSpPr>
        <p:spPr>
          <a:xfrm>
            <a:off x="274320" y="4855320"/>
            <a:ext cx="8595000" cy="173520"/>
          </a:xfrm>
          <a:prstGeom prst="roundRect">
            <a:avLst>
              <a:gd name="adj" fmla="val 26316"/>
            </a:avLst>
          </a:prstGeom>
          <a:solidFill>
            <a:srgbClr val="1e293b"/>
          </a:solidFill>
          <a:ln w="12700">
            <a:solidFill>
              <a:srgbClr val="7c3aed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Text 32"/>
          <p:cNvSpPr/>
          <p:nvPr/>
        </p:nvSpPr>
        <p:spPr>
          <a:xfrm>
            <a:off x="411480" y="4855320"/>
            <a:ext cx="18284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7c3aed"/>
                </a:solidFill>
                <a:latin typeface="Courier New"/>
                <a:ea typeface="Courier New"/>
              </a:rPr>
              <a:t>&gt;=1.0 &lt;2.0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Text 33"/>
          <p:cNvSpPr/>
          <p:nvPr/>
        </p:nvSpPr>
        <p:spPr>
          <a:xfrm>
            <a:off x="2286000" y="4855320"/>
            <a:ext cx="64004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1f5f9"/>
                </a:solidFill>
                <a:latin typeface="Calibri"/>
              </a:rPr>
              <a:t>Intervalle explicite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Shape 0"/>
          <p:cNvSpPr/>
          <p:nvPr/>
        </p:nvSpPr>
        <p:spPr>
          <a:xfrm>
            <a:off x="5943600" y="-457200"/>
            <a:ext cx="4571640" cy="4571640"/>
          </a:xfrm>
          <a:prstGeom prst="ellipse">
            <a:avLst/>
          </a:prstGeom>
          <a:solidFill>
            <a:srgbClr val="1d4ed8">
              <a:alpha val="12000"/>
            </a:srgbClr>
          </a:solidFill>
          <a:ln w="12700">
            <a:solidFill>
              <a:srgbClr val="1d4ed8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Shape 1"/>
          <p:cNvSpPr/>
          <p:nvPr/>
        </p:nvSpPr>
        <p:spPr>
          <a:xfrm>
            <a:off x="-914400" y="2743200"/>
            <a:ext cx="3657240" cy="365724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Text 2"/>
          <p:cNvSpPr/>
          <p:nvPr/>
        </p:nvSpPr>
        <p:spPr>
          <a:xfrm>
            <a:off x="457200" y="22860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Récapitulatif</a:t>
            </a:r>
            <a:endParaRPr b="0" lang="fr-FR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" name="Text 3"/>
          <p:cNvSpPr/>
          <p:nvPr/>
        </p:nvSpPr>
        <p:spPr>
          <a:xfrm>
            <a:off x="457200" y="82296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94a3b8"/>
                </a:solidFill>
                <a:latin typeface="Calibri"/>
              </a:rPr>
              <a:t>Ce qu'on a vu ensemble aujourd'hui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" name="Shape 4"/>
          <p:cNvSpPr/>
          <p:nvPr/>
        </p:nvSpPr>
        <p:spPr>
          <a:xfrm>
            <a:off x="320040" y="1371600"/>
            <a:ext cx="4160160" cy="15998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1d4ed8">
                <a:alpha val="60000"/>
              </a:srgbClr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Shape 5"/>
          <p:cNvSpPr/>
          <p:nvPr/>
        </p:nvSpPr>
        <p:spPr>
          <a:xfrm>
            <a:off x="457200" y="1554480"/>
            <a:ext cx="548280" cy="54828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Text 6"/>
          <p:cNvSpPr/>
          <p:nvPr/>
        </p:nvSpPr>
        <p:spPr>
          <a:xfrm>
            <a:off x="457200" y="1554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A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" name="Text 7"/>
          <p:cNvSpPr/>
          <p:nvPr/>
        </p:nvSpPr>
        <p:spPr>
          <a:xfrm>
            <a:off x="1143000" y="1554480"/>
            <a:ext cx="3200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Fonctions Anonymes / Arrow / Closures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Text 8"/>
          <p:cNvSpPr/>
          <p:nvPr/>
        </p:nvSpPr>
        <p:spPr>
          <a:xfrm>
            <a:off x="502920" y="2176200"/>
            <a:ext cx="3840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</a:rPr>
              <a:t>Sans nom · use() pour capturer · fn() syntaxe courte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Shape 9"/>
          <p:cNvSpPr/>
          <p:nvPr/>
        </p:nvSpPr>
        <p:spPr>
          <a:xfrm>
            <a:off x="4800600" y="1371600"/>
            <a:ext cx="4160160" cy="15998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10b981">
                <a:alpha val="60000"/>
              </a:srgbClr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Shape 10"/>
          <p:cNvSpPr/>
          <p:nvPr/>
        </p:nvSpPr>
        <p:spPr>
          <a:xfrm>
            <a:off x="4937760" y="1554480"/>
            <a:ext cx="548280" cy="5482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" name="Text 11"/>
          <p:cNvSpPr/>
          <p:nvPr/>
        </p:nvSpPr>
        <p:spPr>
          <a:xfrm>
            <a:off x="4937760" y="1554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B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Text 12"/>
          <p:cNvSpPr/>
          <p:nvPr/>
        </p:nvSpPr>
        <p:spPr>
          <a:xfrm>
            <a:off x="5623560" y="1554480"/>
            <a:ext cx="3200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Fonctions natives array_*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" name="Text 13"/>
          <p:cNvSpPr/>
          <p:nvPr/>
        </p:nvSpPr>
        <p:spPr>
          <a:xfrm>
            <a:off x="4983480" y="2176200"/>
            <a:ext cx="3840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</a:rPr>
              <a:t>map · filter · reduce · usort · merge · chunk…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Shape 14"/>
          <p:cNvSpPr/>
          <p:nvPr/>
        </p:nvSpPr>
        <p:spPr>
          <a:xfrm>
            <a:off x="320040" y="3154680"/>
            <a:ext cx="4160160" cy="15998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f59e0b">
                <a:alpha val="60000"/>
              </a:srgbClr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" name="Shape 15"/>
          <p:cNvSpPr/>
          <p:nvPr/>
        </p:nvSpPr>
        <p:spPr>
          <a:xfrm>
            <a:off x="457200" y="3337560"/>
            <a:ext cx="548280" cy="5482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Text 16"/>
          <p:cNvSpPr/>
          <p:nvPr/>
        </p:nvSpPr>
        <p:spPr>
          <a:xfrm>
            <a:off x="457200" y="333756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C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" name="Text 17"/>
          <p:cNvSpPr/>
          <p:nvPr/>
        </p:nvSpPr>
        <p:spPr>
          <a:xfrm>
            <a:off x="1143000" y="3337560"/>
            <a:ext cx="3200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Composer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8" name="Text 18"/>
          <p:cNvSpPr/>
          <p:nvPr/>
        </p:nvSpPr>
        <p:spPr>
          <a:xfrm>
            <a:off x="502920" y="3959280"/>
            <a:ext cx="3840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</a:rPr>
              <a:t>composer.json · require · install · autoload PSR-4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" name="Shape 19"/>
          <p:cNvSpPr/>
          <p:nvPr/>
        </p:nvSpPr>
        <p:spPr>
          <a:xfrm>
            <a:off x="4800600" y="3154680"/>
            <a:ext cx="4160160" cy="15998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0ea5e9">
                <a:alpha val="60000"/>
              </a:srgbClr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" name="Shape 20"/>
          <p:cNvSpPr/>
          <p:nvPr/>
        </p:nvSpPr>
        <p:spPr>
          <a:xfrm>
            <a:off x="4937760" y="3337560"/>
            <a:ext cx="548280" cy="54828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1" name="Text 21"/>
          <p:cNvSpPr/>
          <p:nvPr/>
        </p:nvSpPr>
        <p:spPr>
          <a:xfrm>
            <a:off x="4937760" y="333756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D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" name="Text 22"/>
          <p:cNvSpPr/>
          <p:nvPr/>
        </p:nvSpPr>
        <p:spPr>
          <a:xfrm>
            <a:off x="5623560" y="3337560"/>
            <a:ext cx="3200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Packagist.org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3" name="Text 23"/>
          <p:cNvSpPr/>
          <p:nvPr/>
        </p:nvSpPr>
        <p:spPr>
          <a:xfrm>
            <a:off x="4983480" y="3959280"/>
            <a:ext cx="3840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</a:rPr>
              <a:t>380k+ packages · SemVer · publier un package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Text 24"/>
          <p:cNvSpPr/>
          <p:nvPr/>
        </p:nvSpPr>
        <p:spPr>
          <a:xfrm>
            <a:off x="457200" y="47732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4a3b8"/>
                </a:solidFill>
                <a:latin typeface="Calibri"/>
              </a:rPr>
              <a:t>Merci pour votre attention !  —  Questions ?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2026-06-28T00:14:58Z</dcterms:created>
  <dc:creator>Coach Thiam — Sonatel Academy</dc:creator>
  <dc:description/>
  <dc:language>fr-FR</dc:language>
  <cp:lastModifiedBy/>
  <dcterms:modified xsi:type="dcterms:W3CDTF">2026-06-28T00:37:14Z</dcterms:modified>
  <cp:revision>2</cp:revision>
  <dc:subject>PptxGenJS Presentation</dc:subject>
  <dc:title>PHP Avancé — Fonctions, Tableaux, Composer &amp; Packagist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