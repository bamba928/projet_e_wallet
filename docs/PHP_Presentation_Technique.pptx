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li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q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é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C5D5741-3C2A-48E5-A75F-A13E29B0232B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1DFE40-1B36-4B31-BAC3-40C1BAB6358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5D645C-1573-498B-8AF6-AB741C3DAF5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1D4132-0D08-4D70-A7B4-D71CC62FE2A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EB83EA-0E57-4370-8462-90CEBAEFFE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0F5A64-0E3A-4953-82D4-31005FADC6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7E3663-BB4B-4881-B79B-E35A20B6B0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E65644-32EF-475F-91E1-05B03EDBB9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43218B-2FC4-47B0-B838-95B5192476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79E914-09CB-4EA7-BF59-F5023FF5765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99CD5C-F476-4B4C-ACE9-9DA85E34DB9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B39161-0FB0-4DE8-BB39-64C7EA7B39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75D692-92FE-4014-AB97-51D1AEEFA50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914400" y="-914400"/>
            <a:ext cx="3656880" cy="3656880"/>
          </a:xfrm>
          <a:prstGeom prst="ellipse">
            <a:avLst/>
          </a:prstGeom>
          <a:solidFill>
            <a:srgbClr val="1d4ed8">
              <a:alpha val="15000"/>
            </a:srgbClr>
          </a:solidFill>
          <a:ln w="12700">
            <a:solidFill>
              <a:srgbClr val="1d4ed8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858000" y="2743200"/>
            <a:ext cx="3656880" cy="365688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4572000" y="-457200"/>
            <a:ext cx="1828080" cy="1828080"/>
          </a:xfrm>
          <a:prstGeom prst="ellipse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48640" y="457200"/>
            <a:ext cx="1462320" cy="502200"/>
          </a:xfrm>
          <a:prstGeom prst="roundRect">
            <a:avLst>
              <a:gd name="adj" fmla="val 18182"/>
            </a:avLst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457200"/>
            <a:ext cx="14623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PHP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48640" y="1188720"/>
            <a:ext cx="804600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ea5e9"/>
                </a:solidFill>
                <a:latin typeface="Calibri"/>
              </a:rPr>
              <a:t>Présentation Technique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48640" y="1737360"/>
            <a:ext cx="804600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Fonctions Avancées</a:t>
            </a:r>
            <a:endParaRPr b="0" lang="fr-FR" sz="4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&amp; Gestion de Dépendances</a:t>
            </a:r>
            <a:endParaRPr b="0" lang="fr-FR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548640" y="3566160"/>
            <a:ext cx="2651040" cy="410760"/>
          </a:xfrm>
          <a:prstGeom prst="roundRect">
            <a:avLst>
              <a:gd name="adj" fmla="val 17778"/>
            </a:avLst>
          </a:prstGeom>
          <a:solidFill>
            <a:srgbClr val="1d4ed8">
              <a:alpha val="25000"/>
            </a:srgbClr>
          </a:solidFill>
          <a:ln w="12700">
            <a:solidFill>
              <a:srgbClr val="1d4ed8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548640" y="3566160"/>
            <a:ext cx="2651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Fonctions Anonymes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3429000" y="3566160"/>
            <a:ext cx="2651040" cy="410760"/>
          </a:xfrm>
          <a:prstGeom prst="roundRect">
            <a:avLst>
              <a:gd name="adj" fmla="val 17778"/>
            </a:avLst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3429000" y="3566160"/>
            <a:ext cx="2651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Arrow Functions &amp; Closures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309360" y="3566160"/>
            <a:ext cx="2651040" cy="410760"/>
          </a:xfrm>
          <a:prstGeom prst="roundRect">
            <a:avLst>
              <a:gd name="adj" fmla="val 17778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309360" y="3566160"/>
            <a:ext cx="2651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Fonctions array_*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548640" y="4160520"/>
            <a:ext cx="2651040" cy="410760"/>
          </a:xfrm>
          <a:prstGeom prst="roundRect">
            <a:avLst>
              <a:gd name="adj" fmla="val 17778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548640" y="4160520"/>
            <a:ext cx="2651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Composer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3429000" y="4160520"/>
            <a:ext cx="2651040" cy="410760"/>
          </a:xfrm>
          <a:prstGeom prst="roundRect">
            <a:avLst>
              <a:gd name="adj" fmla="val 17778"/>
            </a:avLst>
          </a:prstGeom>
          <a:solidFill>
            <a:srgbClr val="0ea5e9">
              <a:alpha val="25000"/>
            </a:srgbClr>
          </a:solidFill>
          <a:ln w="12700">
            <a:solidFill>
              <a:srgbClr val="0ea5e9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3429000" y="4160520"/>
            <a:ext cx="26510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</a:rPr>
              <a:t>Packagist.org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48640" y="475488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</a:rPr>
              <a:t>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</a:rPr>
              <a:t>Orange Digital Center  ·  Dev Web &amp; Mobile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457200" y="274320"/>
            <a:ext cx="8228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</a:rPr>
              <a:t>Plan de la présentation</a:t>
            </a:r>
            <a:endParaRPr b="0" lang="fr-FR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"/>
          <p:cNvSpPr/>
          <p:nvPr/>
        </p:nvSpPr>
        <p:spPr>
          <a:xfrm>
            <a:off x="457200" y="1097280"/>
            <a:ext cx="502200" cy="502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0972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A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1143000" y="1097280"/>
            <a:ext cx="7497360" cy="50220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1d4ed8">
                <a:alpha val="4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1371600" y="1097280"/>
            <a:ext cx="71316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Fonctions Anonymes / Arrow Functions / Closures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457200" y="2011680"/>
            <a:ext cx="502200" cy="502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457200" y="20116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B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7"/>
          <p:cNvSpPr/>
          <p:nvPr/>
        </p:nvSpPr>
        <p:spPr>
          <a:xfrm>
            <a:off x="1143000" y="2011680"/>
            <a:ext cx="7497360" cy="50220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10b981">
                <a:alpha val="4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2011680"/>
            <a:ext cx="71316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Fonctions natives de tableaux  (array_*)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457200" y="2926080"/>
            <a:ext cx="502200" cy="502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457200" y="29260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C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1"/>
          <p:cNvSpPr/>
          <p:nvPr/>
        </p:nvSpPr>
        <p:spPr>
          <a:xfrm>
            <a:off x="1143000" y="2926080"/>
            <a:ext cx="7497360" cy="50220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1371600" y="2926080"/>
            <a:ext cx="71316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Gestionnaire de dépendances Composer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13"/>
          <p:cNvSpPr/>
          <p:nvPr/>
        </p:nvSpPr>
        <p:spPr>
          <a:xfrm>
            <a:off x="457200" y="3840480"/>
            <a:ext cx="502200" cy="502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457200" y="3840480"/>
            <a:ext cx="502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D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1143000" y="3840480"/>
            <a:ext cx="7497360" cy="502200"/>
          </a:xfrm>
          <a:prstGeom prst="roundRect">
            <a:avLst>
              <a:gd name="adj" fmla="val 18182"/>
            </a:avLst>
          </a:prstGeom>
          <a:solidFill>
            <a:srgbClr val="1e293b"/>
          </a:solidFill>
          <a:ln w="12700">
            <a:solidFill>
              <a:srgbClr val="0ea5e9">
                <a:alpha val="4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1371600" y="3840480"/>
            <a:ext cx="71316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Packagist.org et son écosystème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A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Fonctions Anonymes (Closures)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4"/>
          <p:cNvSpPr/>
          <p:nvPr/>
        </p:nvSpPr>
        <p:spPr>
          <a:xfrm>
            <a:off x="274320" y="1143000"/>
            <a:ext cx="4114080" cy="146232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 w="12700">
            <a:solidFill>
              <a:srgbClr val="1d4ed8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5"/>
          <p:cNvSpPr/>
          <p:nvPr/>
        </p:nvSpPr>
        <p:spPr>
          <a:xfrm>
            <a:off x="457200" y="1188720"/>
            <a:ext cx="374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a5e9"/>
                </a:solidFill>
                <a:latin typeface="Calibri"/>
              </a:rPr>
              <a:t>Qu'est-ce que c'est ?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6"/>
          <p:cNvSpPr/>
          <p:nvPr/>
        </p:nvSpPr>
        <p:spPr>
          <a:xfrm>
            <a:off x="457200" y="1572840"/>
            <a:ext cx="37483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Une fonction sans nom, assignée à une variable ou passée en argument. Peut capturer des variables via </a:t>
            </a:r>
            <a:r>
              <a:rPr b="1" lang="en-US" sz="1200" spc="-1" strike="noStrike">
                <a:solidFill>
                  <a:srgbClr val="0ea5e9"/>
                </a:solidFill>
                <a:latin typeface="Calibri"/>
              </a:rPr>
              <a:t>use</a:t>
            </a: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.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7"/>
          <p:cNvSpPr/>
          <p:nvPr/>
        </p:nvSpPr>
        <p:spPr>
          <a:xfrm>
            <a:off x="4572000" y="1143000"/>
            <a:ext cx="4296960" cy="1462320"/>
          </a:xfrm>
          <a:prstGeom prst="roundRect">
            <a:avLst>
              <a:gd name="adj" fmla="val 6250"/>
            </a:avLst>
          </a:prstGeom>
          <a:solidFill>
            <a:srgbClr val="0d1117"/>
          </a:solidFill>
          <a:ln w="12700">
            <a:solidFill>
              <a:srgbClr val="94a3b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4663440" y="1188720"/>
            <a:ext cx="41140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$</a:t>
            </a: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saluer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function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($nom)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return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"Bonjour $nom !";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echo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$saluer(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"Alioune"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9"/>
          <p:cNvSpPr/>
          <p:nvPr/>
        </p:nvSpPr>
        <p:spPr>
          <a:xfrm>
            <a:off x="274320" y="2788920"/>
            <a:ext cx="4114080" cy="2056680"/>
          </a:xfrm>
          <a:prstGeom prst="roundRect">
            <a:avLst>
              <a:gd name="adj" fmla="val 4444"/>
            </a:avLst>
          </a:prstGeom>
          <a:solidFill>
            <a:srgbClr val="1e293b"/>
          </a:solidFill>
          <a:ln w="12700">
            <a:solidFill>
              <a:srgbClr val="7c3aed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0"/>
          <p:cNvSpPr/>
          <p:nvPr/>
        </p:nvSpPr>
        <p:spPr>
          <a:xfrm>
            <a:off x="457200" y="2834640"/>
            <a:ext cx="374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7c3aed"/>
                </a:solidFill>
                <a:latin typeface="Calibri"/>
              </a:rPr>
              <a:t>Capturer avec use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11"/>
          <p:cNvSpPr/>
          <p:nvPr/>
        </p:nvSpPr>
        <p:spPr>
          <a:xfrm>
            <a:off x="457200" y="3218760"/>
            <a:ext cx="374832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$prefix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= "Mr.";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$afficher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function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($nom) </a:t>
            </a: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use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($prefix)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echo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"$prefix $nom";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Shape 12"/>
          <p:cNvSpPr/>
          <p:nvPr/>
        </p:nvSpPr>
        <p:spPr>
          <a:xfrm>
            <a:off x="4572000" y="2788920"/>
            <a:ext cx="4296960" cy="2056680"/>
          </a:xfrm>
          <a:prstGeom prst="roundRect">
            <a:avLst>
              <a:gd name="adj" fmla="val 4444"/>
            </a:avLst>
          </a:prstGeom>
          <a:solidFill>
            <a:srgbClr val="1e293b"/>
          </a:solidFill>
          <a:ln w="12700">
            <a:solidFill>
              <a:srgbClr val="10b981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4754880" y="2834640"/>
            <a:ext cx="3931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0b981"/>
                </a:solidFill>
                <a:latin typeface="Calibri"/>
              </a:rPr>
              <a:t>Cas d'usage typiques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4846320" y="3200400"/>
            <a:ext cx="38397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f1f5f9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Callback dans array_map / usort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1f5f9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Passage en argument de fonction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1f5f9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Encapsulation de logique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f1f5f9"/>
              </a:buClr>
              <a:buFont typeface="Symbol" charset="2"/>
              <a:buChar char=""/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Événements / Middlewares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A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Arrow Functions (PHP 7.4+)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274320" y="1051560"/>
            <a:ext cx="8594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ea5e9"/>
                </a:solidFill>
                <a:latin typeface="Calibri"/>
              </a:rPr>
              <a:t>Syntaxe comparée — Anonyme vs Arrow Function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274320" y="1508760"/>
            <a:ext cx="4114080" cy="141660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94a3b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457200" y="15544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94a3b8"/>
                </a:solidFill>
                <a:latin typeface="Calibri"/>
              </a:rPr>
              <a:t>❌ </a:t>
            </a:r>
            <a:r>
              <a:rPr b="1" lang="en-US" sz="1100" spc="-1" strike="noStrike">
                <a:solidFill>
                  <a:srgbClr val="94a3b8"/>
                </a:solidFill>
                <a:latin typeface="Calibri"/>
              </a:rPr>
              <a:t>Fonction anonyme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457200" y="1874520"/>
            <a:ext cx="37483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ea5e9"/>
                </a:solidFill>
                <a:latin typeface="Courier New"/>
                <a:ea typeface="Courier New"/>
              </a:rPr>
              <a:t>$double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200" spc="-1" strike="noStrike">
                <a:solidFill>
                  <a:srgbClr val="1d4ed8"/>
                </a:solidFill>
                <a:latin typeface="Courier New"/>
                <a:ea typeface="Courier New"/>
              </a:rPr>
              <a:t>function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($n) {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d4ed8"/>
                </a:solidFill>
                <a:latin typeface="Courier New"/>
                <a:ea typeface="Courier New"/>
              </a:rPr>
              <a:t>return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 $n * 2;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};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4754880" y="1508760"/>
            <a:ext cx="4114080" cy="1416600"/>
          </a:xfrm>
          <a:prstGeom prst="roundRect">
            <a:avLst>
              <a:gd name="adj" fmla="val 6452"/>
            </a:avLst>
          </a:prstGeom>
          <a:solidFill>
            <a:srgbClr val="0d1117"/>
          </a:solidFill>
          <a:ln w="12700">
            <a:solidFill>
              <a:srgbClr val="10b981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4937760" y="15544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0b981"/>
                </a:solidFill>
                <a:latin typeface="Calibri"/>
              </a:rPr>
              <a:t>✅ </a:t>
            </a:r>
            <a:r>
              <a:rPr b="1" lang="en-US" sz="1100" spc="-1" strike="noStrike">
                <a:solidFill>
                  <a:srgbClr val="10b981"/>
                </a:solidFill>
                <a:latin typeface="Calibri"/>
              </a:rPr>
              <a:t>Arrow Function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0"/>
          <p:cNvSpPr/>
          <p:nvPr/>
        </p:nvSpPr>
        <p:spPr>
          <a:xfrm>
            <a:off x="4937760" y="1874520"/>
            <a:ext cx="37483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ea5e9"/>
                </a:solidFill>
                <a:latin typeface="Courier New"/>
                <a:ea typeface="Courier New"/>
              </a:rPr>
              <a:t>$double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200" spc="-1" strike="noStrike">
                <a:solidFill>
                  <a:srgbClr val="1d4ed8"/>
                </a:solidFill>
                <a:latin typeface="Courier New"/>
                <a:ea typeface="Courier New"/>
              </a:rPr>
              <a:t>fn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($n)</a:t>
            </a:r>
            <a:r>
              <a:rPr b="0" lang="en-US" sz="1200" spc="-1" strike="noStrike">
                <a:solidFill>
                  <a:srgbClr val="7c3aed"/>
                </a:solidFill>
                <a:latin typeface="Courier New"/>
                <a:ea typeface="Courier New"/>
              </a:rPr>
              <a:t> =&gt; </a:t>
            </a:r>
            <a:r>
              <a:rPr b="0" lang="en-US" sz="1200" spc="-1" strike="noStrike">
                <a:solidFill>
                  <a:srgbClr val="ffffff"/>
                </a:solidFill>
                <a:latin typeface="Courier New"/>
                <a:ea typeface="Courier New"/>
              </a:rPr>
              <a:t>$n * 2;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1"/>
          <p:cNvSpPr/>
          <p:nvPr/>
        </p:nvSpPr>
        <p:spPr>
          <a:xfrm>
            <a:off x="274320" y="3063240"/>
            <a:ext cx="2742480" cy="178236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1d4ed8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411480" y="320040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1005840" y="320040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Syntaxe courte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457200" y="3749040"/>
            <a:ext cx="24681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Expression sur une ligne, pas de return explicite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5"/>
          <p:cNvSpPr/>
          <p:nvPr/>
        </p:nvSpPr>
        <p:spPr>
          <a:xfrm>
            <a:off x="3227760" y="3063240"/>
            <a:ext cx="2742480" cy="178236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7c3aed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3364920" y="320040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3959280" y="320040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Capture auto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8"/>
          <p:cNvSpPr/>
          <p:nvPr/>
        </p:nvSpPr>
        <p:spPr>
          <a:xfrm>
            <a:off x="3410640" y="3749040"/>
            <a:ext cx="24681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Accède aux variables parentes sans use()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19"/>
          <p:cNvSpPr/>
          <p:nvPr/>
        </p:nvSpPr>
        <p:spPr>
          <a:xfrm>
            <a:off x="6181200" y="3063240"/>
            <a:ext cx="2742480" cy="178236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 w="12700">
            <a:solidFill>
              <a:srgbClr val="10b981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6318360" y="320040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6912720" y="320040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Idéal callbacks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22"/>
          <p:cNvSpPr/>
          <p:nvPr/>
        </p:nvSpPr>
        <p:spPr>
          <a:xfrm>
            <a:off x="6364080" y="3749040"/>
            <a:ext cx="246816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Parfait avec array_map, array_filter…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A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Closures — Concept &amp; Mécanisme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274320" y="1097280"/>
            <a:ext cx="8594640" cy="73080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12700">
            <a:solidFill>
              <a:srgbClr val="7c3aed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457200" y="1143000"/>
            <a:ext cx="8228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7c3aed"/>
                </a:solidFill>
                <a:latin typeface="Calibri"/>
              </a:rPr>
              <a:t>Une closure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est une fonction qui </a:t>
            </a:r>
            <a:r>
              <a:rPr b="1" lang="en-US" sz="1300" spc="-1" strike="noStrike">
                <a:solidFill>
                  <a:srgbClr val="0ea5e9"/>
                </a:solidFill>
                <a:latin typeface="Calibri"/>
              </a:rPr>
              <a:t>mémorise l'environnement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dans lequel elle a été créée — même après que cet environnement a disparu.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6"/>
          <p:cNvSpPr/>
          <p:nvPr/>
        </p:nvSpPr>
        <p:spPr>
          <a:xfrm>
            <a:off x="274320" y="1965960"/>
            <a:ext cx="4754160" cy="2651040"/>
          </a:xfrm>
          <a:prstGeom prst="roundRect">
            <a:avLst>
              <a:gd name="adj" fmla="val 3448"/>
            </a:avLst>
          </a:prstGeom>
          <a:solidFill>
            <a:srgbClr val="0d1117"/>
          </a:solidFill>
          <a:ln w="12700">
            <a:solidFill>
              <a:srgbClr val="94a3b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457200" y="2011680"/>
            <a:ext cx="4388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ea5e9"/>
                </a:solidFill>
                <a:latin typeface="Calibri"/>
              </a:rPr>
              <a:t>Exemple — Compteur avec closure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457200" y="2423160"/>
            <a:ext cx="447984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function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creerCompteur()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$count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0;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return function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() </a:t>
            </a: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use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(&amp;$count)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return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++$count;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$c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creerCompteur();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echo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$c(); </a:t>
            </a:r>
            <a:r>
              <a:rPr b="0" lang="en-US" sz="1100" spc="-1" strike="noStrike">
                <a:solidFill>
                  <a:srgbClr val="94a3b8"/>
                </a:solidFill>
                <a:latin typeface="Courier New"/>
                <a:ea typeface="Courier New"/>
              </a:rPr>
              <a:t>// 1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echo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$c(); </a:t>
            </a:r>
            <a:r>
              <a:rPr b="0" lang="en-US" sz="1100" spc="-1" strike="noStrike">
                <a:solidFill>
                  <a:srgbClr val="94a3b8"/>
                </a:solidFill>
                <a:latin typeface="Courier New"/>
                <a:ea typeface="Courier New"/>
              </a:rPr>
              <a:t>// 2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9"/>
          <p:cNvSpPr/>
          <p:nvPr/>
        </p:nvSpPr>
        <p:spPr>
          <a:xfrm>
            <a:off x="5212080" y="1965960"/>
            <a:ext cx="3656880" cy="2651040"/>
          </a:xfrm>
          <a:prstGeom prst="roundRect">
            <a:avLst>
              <a:gd name="adj" fmla="val 3448"/>
            </a:avLst>
          </a:prstGeom>
          <a:solidFill>
            <a:srgbClr val="1e293b"/>
          </a:solidFill>
          <a:ln w="12700">
            <a:solidFill>
              <a:srgbClr val="7c3aed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5394960" y="201168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7c3aed"/>
                </a:solidFill>
                <a:latin typeface="Calibri"/>
              </a:rPr>
              <a:t>Comment ça fonctionne ?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5394960" y="2423160"/>
            <a:ext cx="329112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ea5e9"/>
                </a:solidFill>
                <a:latin typeface="Calibri"/>
              </a:rPr>
              <a:t>① </a:t>
            </a:r>
            <a:r>
              <a:rPr b="1" lang="en-US" sz="1200" spc="-1" strike="noStrike">
                <a:solidFill>
                  <a:srgbClr val="0ea5e9"/>
                </a:solidFill>
                <a:latin typeface="Calibri"/>
              </a:rPr>
              <a:t>use (&amp;$var)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Passe par référence → mutations persistantes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59e0b"/>
                </a:solidFill>
                <a:latin typeface="Calibri"/>
              </a:rPr>
              <a:t>② </a:t>
            </a:r>
            <a:r>
              <a:rPr b="1" lang="en-US" sz="1200" spc="-1" strike="noStrike">
                <a:solidFill>
                  <a:srgbClr val="f59e0b"/>
                </a:solidFill>
                <a:latin typeface="Calibri"/>
              </a:rPr>
              <a:t>use ($var)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Passe par copie → lecture seule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0b981"/>
                </a:solidFill>
                <a:latin typeface="Calibri"/>
              </a:rPr>
              <a:t>③ </a:t>
            </a:r>
            <a:r>
              <a:rPr b="1" lang="en-US" sz="1200" spc="-1" strike="noStrike">
                <a:solidFill>
                  <a:srgbClr val="10b981"/>
                </a:solidFill>
                <a:latin typeface="Calibri"/>
              </a:rPr>
              <a:t>Portée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La closure conserve l'état entre les appels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0d3320"/>
          </a:solidFill>
          <a:ln w="12700">
            <a:solidFill>
              <a:srgbClr val="0d33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B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Fonctions Natives de Tableaux (array_*)</a:t>
            </a:r>
            <a:endParaRPr b="0" lang="fr-FR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Shape 4"/>
          <p:cNvSpPr/>
          <p:nvPr/>
        </p:nvSpPr>
        <p:spPr>
          <a:xfrm>
            <a:off x="182880" y="114300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d4ed8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5"/>
          <p:cNvSpPr/>
          <p:nvPr/>
        </p:nvSpPr>
        <p:spPr>
          <a:xfrm>
            <a:off x="292680" y="125280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1d4ed8">
              <a:alpha val="25000"/>
            </a:srgbClr>
          </a:solidFill>
          <a:ln w="12700">
            <a:solidFill>
              <a:srgbClr val="1d4ed8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6"/>
          <p:cNvSpPr/>
          <p:nvPr/>
        </p:nvSpPr>
        <p:spPr>
          <a:xfrm>
            <a:off x="320040" y="125280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array_map()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320040" y="160020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Applique un callback sur chaque élément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8"/>
          <p:cNvSpPr/>
          <p:nvPr/>
        </p:nvSpPr>
        <p:spPr>
          <a:xfrm>
            <a:off x="274320" y="210312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9"/>
          <p:cNvSpPr/>
          <p:nvPr/>
        </p:nvSpPr>
        <p:spPr>
          <a:xfrm>
            <a:off x="347400" y="214884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$r = array_map(fn($n)=&gt;$n*2, [1,2,3]);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182040" y="114300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7c3aed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1"/>
          <p:cNvSpPr/>
          <p:nvPr/>
        </p:nvSpPr>
        <p:spPr>
          <a:xfrm>
            <a:off x="3291840" y="125280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3319200" y="125280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array_filter()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3"/>
          <p:cNvSpPr/>
          <p:nvPr/>
        </p:nvSpPr>
        <p:spPr>
          <a:xfrm>
            <a:off x="3319200" y="160020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Filtre les éléments selon un prédicat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3273480" y="210312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3346560" y="214884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$p = array_filter($arr, fn($n)=&gt;$n&gt;0);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6"/>
          <p:cNvSpPr/>
          <p:nvPr/>
        </p:nvSpPr>
        <p:spPr>
          <a:xfrm>
            <a:off x="6181200" y="114300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f59e0b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6291000" y="125280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8"/>
          <p:cNvSpPr/>
          <p:nvPr/>
        </p:nvSpPr>
        <p:spPr>
          <a:xfrm>
            <a:off x="6318360" y="125280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array_reduce()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6318360" y="160020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Réduit un tableau à une valeur unique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20"/>
          <p:cNvSpPr/>
          <p:nvPr/>
        </p:nvSpPr>
        <p:spPr>
          <a:xfrm>
            <a:off x="6272640" y="210312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6346080" y="214884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$s = array_reduce($arr, fn($c,$i)=&gt;$c+$i);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22"/>
          <p:cNvSpPr/>
          <p:nvPr/>
        </p:nvSpPr>
        <p:spPr>
          <a:xfrm>
            <a:off x="182880" y="306324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0ea5e9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23"/>
          <p:cNvSpPr/>
          <p:nvPr/>
        </p:nvSpPr>
        <p:spPr>
          <a:xfrm>
            <a:off x="292680" y="317304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0ea5e9">
              <a:alpha val="25000"/>
            </a:srgbClr>
          </a:solidFill>
          <a:ln w="12700">
            <a:solidFill>
              <a:srgbClr val="0ea5e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4"/>
          <p:cNvSpPr/>
          <p:nvPr/>
        </p:nvSpPr>
        <p:spPr>
          <a:xfrm>
            <a:off x="320040" y="317304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array_keys()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5"/>
          <p:cNvSpPr/>
          <p:nvPr/>
        </p:nvSpPr>
        <p:spPr>
          <a:xfrm>
            <a:off x="320040" y="352044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Retourne toutes les clés d'un tableau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Shape 26"/>
          <p:cNvSpPr/>
          <p:nvPr/>
        </p:nvSpPr>
        <p:spPr>
          <a:xfrm>
            <a:off x="274320" y="402336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27"/>
          <p:cNvSpPr/>
          <p:nvPr/>
        </p:nvSpPr>
        <p:spPr>
          <a:xfrm>
            <a:off x="347400" y="406908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$keys = array_keys(['a'=&gt;1,'b'=&gt;2]);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28"/>
          <p:cNvSpPr/>
          <p:nvPr/>
        </p:nvSpPr>
        <p:spPr>
          <a:xfrm>
            <a:off x="3182040" y="306324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0b981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29"/>
          <p:cNvSpPr/>
          <p:nvPr/>
        </p:nvSpPr>
        <p:spPr>
          <a:xfrm>
            <a:off x="3291840" y="317304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30"/>
          <p:cNvSpPr/>
          <p:nvPr/>
        </p:nvSpPr>
        <p:spPr>
          <a:xfrm>
            <a:off x="3319200" y="317304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array_values()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31"/>
          <p:cNvSpPr/>
          <p:nvPr/>
        </p:nvSpPr>
        <p:spPr>
          <a:xfrm>
            <a:off x="3319200" y="352044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Retourne les valeurs réindexées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Shape 32"/>
          <p:cNvSpPr/>
          <p:nvPr/>
        </p:nvSpPr>
        <p:spPr>
          <a:xfrm>
            <a:off x="3273480" y="402336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33"/>
          <p:cNvSpPr/>
          <p:nvPr/>
        </p:nvSpPr>
        <p:spPr>
          <a:xfrm>
            <a:off x="3346560" y="406908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$vals = array_values($assoc);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34"/>
          <p:cNvSpPr/>
          <p:nvPr/>
        </p:nvSpPr>
        <p:spPr>
          <a:xfrm>
            <a:off x="6181200" y="3063240"/>
            <a:ext cx="2833920" cy="173664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 w="12700">
            <a:solidFill>
              <a:srgbClr val="1d4ed8">
                <a:alpha val="5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35"/>
          <p:cNvSpPr/>
          <p:nvPr/>
        </p:nvSpPr>
        <p:spPr>
          <a:xfrm>
            <a:off x="6291000" y="3173040"/>
            <a:ext cx="2651040" cy="319320"/>
          </a:xfrm>
          <a:prstGeom prst="roundRect">
            <a:avLst>
              <a:gd name="adj" fmla="val 14286"/>
            </a:avLst>
          </a:prstGeom>
          <a:solidFill>
            <a:srgbClr val="1d4ed8">
              <a:alpha val="25000"/>
            </a:srgbClr>
          </a:solidFill>
          <a:ln w="12700">
            <a:solidFill>
              <a:srgbClr val="1d4ed8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36"/>
          <p:cNvSpPr/>
          <p:nvPr/>
        </p:nvSpPr>
        <p:spPr>
          <a:xfrm>
            <a:off x="6318360" y="3173040"/>
            <a:ext cx="2605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array_merge()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37"/>
          <p:cNvSpPr/>
          <p:nvPr/>
        </p:nvSpPr>
        <p:spPr>
          <a:xfrm>
            <a:off x="6318360" y="3520440"/>
            <a:ext cx="2605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Fusionne deux tableaux ou plus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38"/>
          <p:cNvSpPr/>
          <p:nvPr/>
        </p:nvSpPr>
        <p:spPr>
          <a:xfrm>
            <a:off x="6272640" y="4023360"/>
            <a:ext cx="2651040" cy="666720"/>
          </a:xfrm>
          <a:prstGeom prst="roundRect">
            <a:avLst>
              <a:gd name="adj" fmla="val 9589"/>
            </a:avLst>
          </a:prstGeom>
          <a:solidFill>
            <a:srgbClr val="0d1117"/>
          </a:solidFill>
          <a:ln w="12700">
            <a:solidFill>
              <a:srgbClr val="94a3b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39"/>
          <p:cNvSpPr/>
          <p:nvPr/>
        </p:nvSpPr>
        <p:spPr>
          <a:xfrm>
            <a:off x="6346080" y="4069080"/>
            <a:ext cx="251388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0ea5e9"/>
                </a:solidFill>
                <a:latin typeface="Courier New"/>
                <a:ea typeface="Courier New"/>
              </a:rPr>
              <a:t>$m = array_merge($arr1, $arr2);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0d3320"/>
          </a:solidFill>
          <a:ln w="12700">
            <a:solidFill>
              <a:srgbClr val="0d332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B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Fonctions Avancées &amp; Pipeline de Données</a:t>
            </a:r>
            <a:endParaRPr b="0" lang="fr-FR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27432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27432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</a:rPr>
              <a:t>usort()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27432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Tri personnalisé avec callback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171900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1d4ed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8"/>
          <p:cNvSpPr/>
          <p:nvPr/>
        </p:nvSpPr>
        <p:spPr>
          <a:xfrm>
            <a:off x="171900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d4ed8"/>
                </a:solidFill>
                <a:latin typeface="Calibri"/>
              </a:rPr>
              <a:t>array_unique()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171900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Supprime les doublons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316368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7c3aed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1"/>
          <p:cNvSpPr/>
          <p:nvPr/>
        </p:nvSpPr>
        <p:spPr>
          <a:xfrm>
            <a:off x="316368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c3aed"/>
                </a:solidFill>
                <a:latin typeface="Calibri"/>
              </a:rPr>
              <a:t>in_array()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2"/>
          <p:cNvSpPr/>
          <p:nvPr/>
        </p:nvSpPr>
        <p:spPr>
          <a:xfrm>
            <a:off x="316368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Vérifie si valeur existe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13"/>
          <p:cNvSpPr/>
          <p:nvPr/>
        </p:nvSpPr>
        <p:spPr>
          <a:xfrm>
            <a:off x="460872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0ea5e9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460872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ea5e9"/>
                </a:solidFill>
                <a:latin typeface="Calibri"/>
              </a:rPr>
              <a:t>array_search()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5"/>
          <p:cNvSpPr/>
          <p:nvPr/>
        </p:nvSpPr>
        <p:spPr>
          <a:xfrm>
            <a:off x="460872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Retourne la clé de la valeur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605340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10b981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605340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0b981"/>
                </a:solidFill>
                <a:latin typeface="Calibri"/>
              </a:rPr>
              <a:t>array_chunk()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605340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Divise en sous-tableaux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19"/>
          <p:cNvSpPr/>
          <p:nvPr/>
        </p:nvSpPr>
        <p:spPr>
          <a:xfrm>
            <a:off x="7498080" y="1143000"/>
            <a:ext cx="1297800" cy="68508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0"/>
          <p:cNvSpPr/>
          <p:nvPr/>
        </p:nvSpPr>
        <p:spPr>
          <a:xfrm>
            <a:off x="7498080" y="1170360"/>
            <a:ext cx="12978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</a:rPr>
              <a:t>array_column()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1"/>
          <p:cNvSpPr/>
          <p:nvPr/>
        </p:nvSpPr>
        <p:spPr>
          <a:xfrm>
            <a:off x="7498080" y="1517760"/>
            <a:ext cx="1297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Extrait une colonne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2"/>
          <p:cNvSpPr/>
          <p:nvPr/>
        </p:nvSpPr>
        <p:spPr>
          <a:xfrm>
            <a:off x="274320" y="1965960"/>
            <a:ext cx="8594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a5e9"/>
                </a:solidFill>
                <a:latin typeface="Calibri"/>
              </a:rPr>
              <a:t>Exemple Pipeline — Transformer des données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23"/>
          <p:cNvSpPr/>
          <p:nvPr/>
        </p:nvSpPr>
        <p:spPr>
          <a:xfrm>
            <a:off x="274320" y="2377440"/>
            <a:ext cx="8594640" cy="2468160"/>
          </a:xfrm>
          <a:prstGeom prst="roundRect">
            <a:avLst>
              <a:gd name="adj" fmla="val 3704"/>
            </a:avLst>
          </a:prstGeom>
          <a:solidFill>
            <a:srgbClr val="0d1117"/>
          </a:solidFill>
          <a:ln w="12700">
            <a:solidFill>
              <a:srgbClr val="94a3b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24"/>
          <p:cNvSpPr/>
          <p:nvPr/>
        </p:nvSpPr>
        <p:spPr>
          <a:xfrm>
            <a:off x="457200" y="2468880"/>
            <a:ext cx="8228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$produits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[['nom'=&gt;'PHP','prix'=&gt;50],['nom'=&gt;'JS','prix'=&gt;0],['nom'=&gt;'Python','prix'=&gt;30]];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94a3b8"/>
                </a:solidFill>
                <a:latin typeface="Courier New"/>
                <a:ea typeface="Courier New"/>
              </a:rPr>
              <a:t>// Filtrer gratuits → doubler prix → trier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$result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array_filter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($produits, 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($p) =&gt; $p['prix'] &gt; 0);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$result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array_map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($p) =&gt; ['nom'=&gt;$p['nom'],'prix'=&gt;$p['prix']*2], $result);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usort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($result, </a:t>
            </a: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fn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($a,$b) =&gt; $a['prix'] &lt;=&gt; $b['prix']);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2d1b00"/>
          </a:solidFill>
          <a:ln w="12700">
            <a:solidFill>
              <a:srgbClr val="2d1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C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Composer — Gestionnaire de Dépendances PHP</a:t>
            </a:r>
            <a:endParaRPr b="0" lang="fr-FR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4"/>
          <p:cNvSpPr/>
          <p:nvPr/>
        </p:nvSpPr>
        <p:spPr>
          <a:xfrm>
            <a:off x="274320" y="1097280"/>
            <a:ext cx="8594640" cy="776520"/>
          </a:xfrm>
          <a:prstGeom prst="roundRect">
            <a:avLst>
              <a:gd name="adj" fmla="val 11765"/>
            </a:avLst>
          </a:prstGeom>
          <a:solidFill>
            <a:srgbClr val="1e293b"/>
          </a:solidFill>
          <a:ln w="12700">
            <a:solidFill>
              <a:srgbClr val="f59e0b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457200" y="1143000"/>
            <a:ext cx="82288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</a:rPr>
              <a:t>Composer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est l'outil standard de gestion de </a:t>
            </a:r>
            <a:r>
              <a:rPr b="1" lang="en-US" sz="1300" spc="-1" strike="noStrike">
                <a:solidFill>
                  <a:srgbClr val="0ea5e9"/>
                </a:solidFill>
                <a:latin typeface="Calibri"/>
              </a:rPr>
              <a:t>dépendances et d'autoload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en PHP. Il permet de déclarer, installer et mettre à jour les bibliothèques tierces d'un projet.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6"/>
          <p:cNvSpPr/>
          <p:nvPr/>
        </p:nvSpPr>
        <p:spPr>
          <a:xfrm>
            <a:off x="274320" y="2011680"/>
            <a:ext cx="859464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1d4ed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7"/>
          <p:cNvSpPr/>
          <p:nvPr/>
        </p:nvSpPr>
        <p:spPr>
          <a:xfrm>
            <a:off x="320040" y="2048400"/>
            <a:ext cx="3016800" cy="419760"/>
          </a:xfrm>
          <a:prstGeom prst="roundRect">
            <a:avLst>
              <a:gd name="adj" fmla="val 13043"/>
            </a:avLst>
          </a:prstGeom>
          <a:solidFill>
            <a:srgbClr val="0d1117"/>
          </a:solidFill>
          <a:ln w="12700">
            <a:solidFill>
              <a:srgbClr val="1d4ed8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8"/>
          <p:cNvSpPr/>
          <p:nvPr/>
        </p:nvSpPr>
        <p:spPr>
          <a:xfrm>
            <a:off x="411480" y="2048400"/>
            <a:ext cx="2925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composer init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3474720" y="2011680"/>
            <a:ext cx="5302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Créer un nouveau projet (génère composer.json)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Shape 10"/>
          <p:cNvSpPr/>
          <p:nvPr/>
        </p:nvSpPr>
        <p:spPr>
          <a:xfrm>
            <a:off x="274320" y="2597040"/>
            <a:ext cx="859464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10b981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320040" y="2633400"/>
            <a:ext cx="3016800" cy="419760"/>
          </a:xfrm>
          <a:prstGeom prst="roundRect">
            <a:avLst>
              <a:gd name="adj" fmla="val 13043"/>
            </a:avLst>
          </a:prstGeom>
          <a:solidFill>
            <a:srgbClr val="0d1117"/>
          </a:solidFill>
          <a:ln w="12700">
            <a:solidFill>
              <a:srgbClr val="10b981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411480" y="2633400"/>
            <a:ext cx="2925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composer require vendor/pkg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3474720" y="2597040"/>
            <a:ext cx="5302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Ajouter une dépendance au projet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4"/>
          <p:cNvSpPr/>
          <p:nvPr/>
        </p:nvSpPr>
        <p:spPr>
          <a:xfrm>
            <a:off x="274320" y="3182040"/>
            <a:ext cx="859464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f59e0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320040" y="3218760"/>
            <a:ext cx="3016800" cy="419760"/>
          </a:xfrm>
          <a:prstGeom prst="roundRect">
            <a:avLst>
              <a:gd name="adj" fmla="val 13043"/>
            </a:avLst>
          </a:prstGeom>
          <a:solidFill>
            <a:srgbClr val="0d1117"/>
          </a:solidFill>
          <a:ln w="12700">
            <a:solidFill>
              <a:srgbClr val="f59e0b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411480" y="3218760"/>
            <a:ext cx="2925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composer install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7"/>
          <p:cNvSpPr/>
          <p:nvPr/>
        </p:nvSpPr>
        <p:spPr>
          <a:xfrm>
            <a:off x="3474720" y="3182040"/>
            <a:ext cx="5302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Installer toutes les dépendances (via composer.lock)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8"/>
          <p:cNvSpPr/>
          <p:nvPr/>
        </p:nvSpPr>
        <p:spPr>
          <a:xfrm>
            <a:off x="274320" y="3767400"/>
            <a:ext cx="859464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0ea5e9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19"/>
          <p:cNvSpPr/>
          <p:nvPr/>
        </p:nvSpPr>
        <p:spPr>
          <a:xfrm>
            <a:off x="320040" y="3803760"/>
            <a:ext cx="3016800" cy="419760"/>
          </a:xfrm>
          <a:prstGeom prst="roundRect">
            <a:avLst>
              <a:gd name="adj" fmla="val 13043"/>
            </a:avLst>
          </a:prstGeom>
          <a:solidFill>
            <a:srgbClr val="0d1117"/>
          </a:solidFill>
          <a:ln w="12700">
            <a:solidFill>
              <a:srgbClr val="0ea5e9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20"/>
          <p:cNvSpPr/>
          <p:nvPr/>
        </p:nvSpPr>
        <p:spPr>
          <a:xfrm>
            <a:off x="411480" y="3803760"/>
            <a:ext cx="2925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composer update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21"/>
          <p:cNvSpPr/>
          <p:nvPr/>
        </p:nvSpPr>
        <p:spPr>
          <a:xfrm>
            <a:off x="3474720" y="3767400"/>
            <a:ext cx="5302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Mettre à jour les dépendances selon composer.json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22"/>
          <p:cNvSpPr/>
          <p:nvPr/>
        </p:nvSpPr>
        <p:spPr>
          <a:xfrm>
            <a:off x="274320" y="4352400"/>
            <a:ext cx="859464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7c3aed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3"/>
          <p:cNvSpPr/>
          <p:nvPr/>
        </p:nvSpPr>
        <p:spPr>
          <a:xfrm>
            <a:off x="320040" y="4389120"/>
            <a:ext cx="3016800" cy="419760"/>
          </a:xfrm>
          <a:prstGeom prst="roundRect">
            <a:avLst>
              <a:gd name="adj" fmla="val 13043"/>
            </a:avLst>
          </a:prstGeom>
          <a:solidFill>
            <a:srgbClr val="0d1117"/>
          </a:solidFill>
          <a:ln w="12700">
            <a:solidFill>
              <a:srgbClr val="7c3aed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24"/>
          <p:cNvSpPr/>
          <p:nvPr/>
        </p:nvSpPr>
        <p:spPr>
          <a:xfrm>
            <a:off x="411480" y="4389120"/>
            <a:ext cx="29253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composer dump-autoload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 25"/>
          <p:cNvSpPr/>
          <p:nvPr/>
        </p:nvSpPr>
        <p:spPr>
          <a:xfrm>
            <a:off x="3474720" y="4352400"/>
            <a:ext cx="53028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1f5f9"/>
                </a:solidFill>
                <a:latin typeface="Calibri"/>
              </a:rPr>
              <a:t>Régénérer l'autoloader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2d1b00"/>
          </a:solidFill>
          <a:ln w="12700">
            <a:solidFill>
              <a:srgbClr val="2d1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C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composer.json &amp; Autoloading PSR-4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274320" y="1097280"/>
            <a:ext cx="43884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59e0b"/>
                </a:solidFill>
                <a:latin typeface="Calibri"/>
              </a:rPr>
              <a:t>Structure de composer.json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274320" y="1508760"/>
            <a:ext cx="4388400" cy="3291120"/>
          </a:xfrm>
          <a:prstGeom prst="roundRect">
            <a:avLst>
              <a:gd name="adj" fmla="val 2778"/>
            </a:avLst>
          </a:prstGeom>
          <a:solidFill>
            <a:srgbClr val="0d1117"/>
          </a:solidFill>
          <a:ln w="12700">
            <a:solidFill>
              <a:srgbClr val="94a3b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457200" y="1600200"/>
            <a:ext cx="4114080" cy="31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"name"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"mon/projet",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"require"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"php"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"&gt;=8.0"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"monolog/monolog"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"^3.0"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},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"autoload"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    </a:t>
            </a: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"psr-4"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{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  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"App\\"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: </a:t>
            </a: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"src/"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  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 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}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4937760" y="1097280"/>
            <a:ext cx="39312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59e0b"/>
                </a:solidFill>
                <a:latin typeface="Calibri"/>
              </a:rPr>
              <a:t>Utiliser l'autoload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4937760" y="1508760"/>
            <a:ext cx="3931200" cy="164520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94a3b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9"/>
          <p:cNvSpPr/>
          <p:nvPr/>
        </p:nvSpPr>
        <p:spPr>
          <a:xfrm>
            <a:off x="5074920" y="1600200"/>
            <a:ext cx="3656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require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__DIR__ . 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'/vendor/autoload.php';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use</a:t>
            </a: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 Monolog\Logger;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use</a:t>
            </a: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 Monolog\Handler\StreamHandler;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ea5e9"/>
                </a:solidFill>
                <a:latin typeface="Courier New"/>
                <a:ea typeface="Courier New"/>
              </a:rPr>
              <a:t>$log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 = new Logger(</a:t>
            </a: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'app'</a:t>
            </a:r>
            <a:r>
              <a:rPr b="0" lang="en-US" sz="1100" spc="-1" strike="noStrike">
                <a:solidFill>
                  <a:srgbClr val="ffffff"/>
                </a:solidFill>
                <a:latin typeface="Courier New"/>
                <a:ea typeface="Courier New"/>
              </a:rPr>
              <a:t>);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4937760" y="3291840"/>
            <a:ext cx="3931200" cy="346680"/>
          </a:xfrm>
          <a:prstGeom prst="roundRect">
            <a:avLst>
              <a:gd name="adj" fmla="val 21053"/>
            </a:avLst>
          </a:prstGeom>
          <a:solidFill>
            <a:srgbClr val="1e293b"/>
          </a:solidFill>
          <a:ln w="12700">
            <a:solidFill>
              <a:srgbClr val="10b981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11"/>
          <p:cNvSpPr/>
          <p:nvPr/>
        </p:nvSpPr>
        <p:spPr>
          <a:xfrm>
            <a:off x="5029200" y="3346560"/>
            <a:ext cx="227880" cy="227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5349240" y="329184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Versioning sémantique  (^, ~, &gt;=)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13"/>
          <p:cNvSpPr/>
          <p:nvPr/>
        </p:nvSpPr>
        <p:spPr>
          <a:xfrm>
            <a:off x="4937760" y="3703320"/>
            <a:ext cx="3931200" cy="346680"/>
          </a:xfrm>
          <a:prstGeom prst="roundRect">
            <a:avLst>
              <a:gd name="adj" fmla="val 21053"/>
            </a:avLst>
          </a:prstGeom>
          <a:solidFill>
            <a:srgbClr val="1e293b"/>
          </a:solidFill>
          <a:ln w="12700">
            <a:solidFill>
              <a:srgbClr val="0ea5e9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5029200" y="3758040"/>
            <a:ext cx="227880" cy="22788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15"/>
          <p:cNvSpPr/>
          <p:nvPr/>
        </p:nvSpPr>
        <p:spPr>
          <a:xfrm>
            <a:off x="5349240" y="370332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Autoloading PSR-4 automatique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16"/>
          <p:cNvSpPr/>
          <p:nvPr/>
        </p:nvSpPr>
        <p:spPr>
          <a:xfrm>
            <a:off x="4937760" y="4114800"/>
            <a:ext cx="3931200" cy="346680"/>
          </a:xfrm>
          <a:prstGeom prst="roundRect">
            <a:avLst>
              <a:gd name="adj" fmla="val 21053"/>
            </a:avLst>
          </a:prstGeom>
          <a:solidFill>
            <a:srgbClr val="1e293b"/>
          </a:solidFill>
          <a:ln w="12700">
            <a:solidFill>
              <a:srgbClr val="1d4ed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5029200" y="4169520"/>
            <a:ext cx="227880" cy="2278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8"/>
          <p:cNvSpPr/>
          <p:nvPr/>
        </p:nvSpPr>
        <p:spPr>
          <a:xfrm>
            <a:off x="5349240" y="411480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Fichier lock pour reproductibilité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19"/>
          <p:cNvSpPr/>
          <p:nvPr/>
        </p:nvSpPr>
        <p:spPr>
          <a:xfrm>
            <a:off x="4937760" y="4526280"/>
            <a:ext cx="3931200" cy="346680"/>
          </a:xfrm>
          <a:prstGeom prst="roundRect">
            <a:avLst>
              <a:gd name="adj" fmla="val 21053"/>
            </a:avLst>
          </a:prstGeom>
          <a:solidFill>
            <a:srgbClr val="1e293b"/>
          </a:solidFill>
          <a:ln w="12700">
            <a:solidFill>
              <a:srgbClr val="7c3aed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0"/>
          <p:cNvSpPr/>
          <p:nvPr/>
        </p:nvSpPr>
        <p:spPr>
          <a:xfrm>
            <a:off x="5029200" y="4581000"/>
            <a:ext cx="227880" cy="2278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1"/>
          <p:cNvSpPr/>
          <p:nvPr/>
        </p:nvSpPr>
        <p:spPr>
          <a:xfrm>
            <a:off x="5349240" y="452628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Scripts personnalisés (scripts)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001d2d"/>
          </a:solidFill>
          <a:ln w="12700">
            <a:solidFill>
              <a:srgbClr val="001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f172a"/>
                </a:solidFill>
                <a:latin typeface="Calibri"/>
              </a:rPr>
              <a:t>D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Packagist.org — L'Écosystème PHP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274320" y="1097280"/>
            <a:ext cx="8594640" cy="730800"/>
          </a:xfrm>
          <a:prstGeom prst="roundRect">
            <a:avLst>
              <a:gd name="adj" fmla="val 12500"/>
            </a:avLst>
          </a:prstGeom>
          <a:solidFill>
            <a:srgbClr val="1e293b"/>
          </a:solidFill>
          <a:ln w="12700">
            <a:solidFill>
              <a:srgbClr val="0ea5e9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457200" y="1143000"/>
            <a:ext cx="8228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ea5e9"/>
                </a:solidFill>
                <a:latin typeface="Calibri"/>
              </a:rPr>
              <a:t>packagist.org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est le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registre officiel </a:t>
            </a: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de packages PHP. Composer l'utilise comme source par défaut pour trouver et télécharger des bibliothèques.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6"/>
          <p:cNvSpPr/>
          <p:nvPr/>
        </p:nvSpPr>
        <p:spPr>
          <a:xfrm>
            <a:off x="365760" y="1920240"/>
            <a:ext cx="2651040" cy="12794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0ea5e9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365760" y="2011680"/>
            <a:ext cx="2651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0ea5e9"/>
                </a:solidFill>
                <a:latin typeface="Calibri"/>
              </a:rPr>
              <a:t>380 000+</a:t>
            </a:r>
            <a:endParaRPr b="0" lang="fr-F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365760" y="2651760"/>
            <a:ext cx="2651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Packages disponibles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9"/>
          <p:cNvSpPr/>
          <p:nvPr/>
        </p:nvSpPr>
        <p:spPr>
          <a:xfrm>
            <a:off x="3291840" y="1920240"/>
            <a:ext cx="2651040" cy="12794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0"/>
          <p:cNvSpPr/>
          <p:nvPr/>
        </p:nvSpPr>
        <p:spPr>
          <a:xfrm>
            <a:off x="3291840" y="2011680"/>
            <a:ext cx="2651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0b981"/>
                </a:solidFill>
                <a:latin typeface="Calibri"/>
              </a:rPr>
              <a:t>3 milliards+</a:t>
            </a:r>
            <a:endParaRPr b="0" lang="fr-F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11"/>
          <p:cNvSpPr/>
          <p:nvPr/>
        </p:nvSpPr>
        <p:spPr>
          <a:xfrm>
            <a:off x="3291840" y="2651760"/>
            <a:ext cx="2651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Installations / mois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12"/>
          <p:cNvSpPr/>
          <p:nvPr/>
        </p:nvSpPr>
        <p:spPr>
          <a:xfrm>
            <a:off x="6217920" y="1920240"/>
            <a:ext cx="2651040" cy="127944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f59e0b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13"/>
          <p:cNvSpPr/>
          <p:nvPr/>
        </p:nvSpPr>
        <p:spPr>
          <a:xfrm>
            <a:off x="6217920" y="2011680"/>
            <a:ext cx="26510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59e0b"/>
                </a:solidFill>
                <a:latin typeface="Calibri"/>
              </a:rPr>
              <a:t>100%</a:t>
            </a:r>
            <a:endParaRPr b="0" lang="fr-FR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4"/>
          <p:cNvSpPr/>
          <p:nvPr/>
        </p:nvSpPr>
        <p:spPr>
          <a:xfrm>
            <a:off x="6217920" y="2651760"/>
            <a:ext cx="2651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Open Source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5"/>
          <p:cNvSpPr/>
          <p:nvPr/>
        </p:nvSpPr>
        <p:spPr>
          <a:xfrm>
            <a:off x="274320" y="3291840"/>
            <a:ext cx="8594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Packages incontournables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16"/>
          <p:cNvSpPr/>
          <p:nvPr/>
        </p:nvSpPr>
        <p:spPr>
          <a:xfrm>
            <a:off x="274320" y="374904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1d4ed8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17"/>
          <p:cNvSpPr/>
          <p:nvPr/>
        </p:nvSpPr>
        <p:spPr>
          <a:xfrm>
            <a:off x="365760" y="3858840"/>
            <a:ext cx="273600" cy="273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8"/>
          <p:cNvSpPr/>
          <p:nvPr/>
        </p:nvSpPr>
        <p:spPr>
          <a:xfrm>
            <a:off x="777240" y="374904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guzzlehttp/guzzle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19"/>
          <p:cNvSpPr/>
          <p:nvPr/>
        </p:nvSpPr>
        <p:spPr>
          <a:xfrm>
            <a:off x="2423160" y="374904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Client HTTP puissant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20"/>
          <p:cNvSpPr/>
          <p:nvPr/>
        </p:nvSpPr>
        <p:spPr>
          <a:xfrm>
            <a:off x="3246120" y="374904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1"/>
          <p:cNvSpPr/>
          <p:nvPr/>
        </p:nvSpPr>
        <p:spPr>
          <a:xfrm>
            <a:off x="3337560" y="3858840"/>
            <a:ext cx="273600" cy="273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22"/>
          <p:cNvSpPr/>
          <p:nvPr/>
        </p:nvSpPr>
        <p:spPr>
          <a:xfrm>
            <a:off x="3749040" y="374904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monolog/monolog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23"/>
          <p:cNvSpPr/>
          <p:nvPr/>
        </p:nvSpPr>
        <p:spPr>
          <a:xfrm>
            <a:off x="5394960" y="374904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Logging flexible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24"/>
          <p:cNvSpPr/>
          <p:nvPr/>
        </p:nvSpPr>
        <p:spPr>
          <a:xfrm>
            <a:off x="6217920" y="374904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7c3aed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25"/>
          <p:cNvSpPr/>
          <p:nvPr/>
        </p:nvSpPr>
        <p:spPr>
          <a:xfrm>
            <a:off x="6309360" y="3858840"/>
            <a:ext cx="273600" cy="2736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26"/>
          <p:cNvSpPr/>
          <p:nvPr/>
        </p:nvSpPr>
        <p:spPr>
          <a:xfrm>
            <a:off x="6720840" y="374904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symfony/console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27"/>
          <p:cNvSpPr/>
          <p:nvPr/>
        </p:nvSpPr>
        <p:spPr>
          <a:xfrm>
            <a:off x="8366760" y="374904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CLI &amp; commandes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28"/>
          <p:cNvSpPr/>
          <p:nvPr/>
        </p:nvSpPr>
        <p:spPr>
          <a:xfrm>
            <a:off x="274320" y="434340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10b981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Shape 29"/>
          <p:cNvSpPr/>
          <p:nvPr/>
        </p:nvSpPr>
        <p:spPr>
          <a:xfrm>
            <a:off x="365760" y="4453200"/>
            <a:ext cx="273600" cy="2736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0"/>
          <p:cNvSpPr/>
          <p:nvPr/>
        </p:nvSpPr>
        <p:spPr>
          <a:xfrm>
            <a:off x="777240" y="434340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laravel/laravel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31"/>
          <p:cNvSpPr/>
          <p:nvPr/>
        </p:nvSpPr>
        <p:spPr>
          <a:xfrm>
            <a:off x="2423160" y="434340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Framework MVC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32"/>
          <p:cNvSpPr/>
          <p:nvPr/>
        </p:nvSpPr>
        <p:spPr>
          <a:xfrm>
            <a:off x="3246120" y="434340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0ea5e9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Shape 33"/>
          <p:cNvSpPr/>
          <p:nvPr/>
        </p:nvSpPr>
        <p:spPr>
          <a:xfrm>
            <a:off x="3337560" y="4453200"/>
            <a:ext cx="273600" cy="2736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34"/>
          <p:cNvSpPr/>
          <p:nvPr/>
        </p:nvSpPr>
        <p:spPr>
          <a:xfrm>
            <a:off x="3749040" y="434340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doctrine/orm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35"/>
          <p:cNvSpPr/>
          <p:nvPr/>
        </p:nvSpPr>
        <p:spPr>
          <a:xfrm>
            <a:off x="5394960" y="434340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Mapping ORM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Shape 36"/>
          <p:cNvSpPr/>
          <p:nvPr/>
        </p:nvSpPr>
        <p:spPr>
          <a:xfrm>
            <a:off x="6217920" y="4343400"/>
            <a:ext cx="2833920" cy="50220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37"/>
          <p:cNvSpPr/>
          <p:nvPr/>
        </p:nvSpPr>
        <p:spPr>
          <a:xfrm>
            <a:off x="6309360" y="4453200"/>
            <a:ext cx="273600" cy="2736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38"/>
          <p:cNvSpPr/>
          <p:nvPr/>
        </p:nvSpPr>
        <p:spPr>
          <a:xfrm>
            <a:off x="6720840" y="4343400"/>
            <a:ext cx="1645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ourier New"/>
                <a:ea typeface="Courier New"/>
              </a:rPr>
              <a:t>phpunit/phpunit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 39"/>
          <p:cNvSpPr/>
          <p:nvPr/>
        </p:nvSpPr>
        <p:spPr>
          <a:xfrm>
            <a:off x="8366760" y="4343400"/>
            <a:ext cx="5936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</a:rPr>
              <a:t>Tests unitaires</a:t>
            </a:r>
            <a:endParaRPr b="0" lang="fr-FR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0" y="0"/>
            <a:ext cx="9143280" cy="1005120"/>
          </a:xfrm>
          <a:prstGeom prst="roundRect">
            <a:avLst>
              <a:gd name="adj" fmla="val 16667"/>
            </a:avLst>
          </a:prstGeom>
          <a:solidFill>
            <a:srgbClr val="001d2d"/>
          </a:solidFill>
          <a:ln w="12700">
            <a:solidFill>
              <a:srgbClr val="001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1"/>
          <p:cNvSpPr/>
          <p:nvPr/>
        </p:nvSpPr>
        <p:spPr>
          <a:xfrm>
            <a:off x="182880" y="137160"/>
            <a:ext cx="730800" cy="7308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182880" y="137160"/>
            <a:ext cx="7308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f172a"/>
                </a:solidFill>
                <a:latin typeface="Calibri"/>
              </a:rPr>
              <a:t>D</a:t>
            </a:r>
            <a:endParaRPr b="0" lang="fr-F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3"/>
          <p:cNvSpPr/>
          <p:nvPr/>
        </p:nvSpPr>
        <p:spPr>
          <a:xfrm>
            <a:off x="1097280" y="137160"/>
            <a:ext cx="77716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Publier &amp; Versioning Sémantique</a:t>
            </a:r>
            <a:endParaRPr b="0" lang="fr-F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4"/>
          <p:cNvSpPr/>
          <p:nvPr/>
        </p:nvSpPr>
        <p:spPr>
          <a:xfrm>
            <a:off x="274320" y="1097280"/>
            <a:ext cx="8594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ea5e9"/>
                </a:solidFill>
                <a:latin typeface="Calibri"/>
              </a:rPr>
              <a:t>Comment publier un package sur Packagist ?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5"/>
          <p:cNvSpPr/>
          <p:nvPr/>
        </p:nvSpPr>
        <p:spPr>
          <a:xfrm>
            <a:off x="274320" y="1600200"/>
            <a:ext cx="410760" cy="4107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274320" y="160020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7"/>
          <p:cNvSpPr/>
          <p:nvPr/>
        </p:nvSpPr>
        <p:spPr>
          <a:xfrm>
            <a:off x="822960" y="1600200"/>
            <a:ext cx="8046000" cy="410760"/>
          </a:xfrm>
          <a:prstGeom prst="roundRect">
            <a:avLst>
              <a:gd name="adj" fmla="val 17778"/>
            </a:avLst>
          </a:prstGeom>
          <a:solidFill>
            <a:srgbClr val="1e293b"/>
          </a:solidFill>
          <a:ln w="12700">
            <a:solidFill>
              <a:srgbClr val="1d4ed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8"/>
          <p:cNvSpPr/>
          <p:nvPr/>
        </p:nvSpPr>
        <p:spPr>
          <a:xfrm>
            <a:off x="1005840" y="160020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Créer un dépôt GitHub avec composer.json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9"/>
          <p:cNvSpPr/>
          <p:nvPr/>
        </p:nvSpPr>
        <p:spPr>
          <a:xfrm>
            <a:off x="274320" y="2148840"/>
            <a:ext cx="410760" cy="410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10"/>
          <p:cNvSpPr/>
          <p:nvPr/>
        </p:nvSpPr>
        <p:spPr>
          <a:xfrm>
            <a:off x="274320" y="214884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11"/>
          <p:cNvSpPr/>
          <p:nvPr/>
        </p:nvSpPr>
        <p:spPr>
          <a:xfrm>
            <a:off x="822960" y="2148840"/>
            <a:ext cx="8046000" cy="410760"/>
          </a:xfrm>
          <a:prstGeom prst="roundRect">
            <a:avLst>
              <a:gd name="adj" fmla="val 17778"/>
            </a:avLst>
          </a:prstGeom>
          <a:solidFill>
            <a:srgbClr val="1e293b"/>
          </a:solidFill>
          <a:ln w="12700">
            <a:solidFill>
              <a:srgbClr val="7c3aed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2"/>
          <p:cNvSpPr/>
          <p:nvPr/>
        </p:nvSpPr>
        <p:spPr>
          <a:xfrm>
            <a:off x="1005840" y="214884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Créer un compte sur packagist.org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13"/>
          <p:cNvSpPr/>
          <p:nvPr/>
        </p:nvSpPr>
        <p:spPr>
          <a:xfrm>
            <a:off x="274320" y="2697480"/>
            <a:ext cx="410760" cy="4107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14"/>
          <p:cNvSpPr/>
          <p:nvPr/>
        </p:nvSpPr>
        <p:spPr>
          <a:xfrm>
            <a:off x="274320" y="269748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Shape 15"/>
          <p:cNvSpPr/>
          <p:nvPr/>
        </p:nvSpPr>
        <p:spPr>
          <a:xfrm>
            <a:off x="822960" y="2697480"/>
            <a:ext cx="8046000" cy="410760"/>
          </a:xfrm>
          <a:prstGeom prst="roundRect">
            <a:avLst>
              <a:gd name="adj" fmla="val 17778"/>
            </a:avLst>
          </a:prstGeom>
          <a:solidFill>
            <a:srgbClr val="1e293b"/>
          </a:solidFill>
          <a:ln w="12700">
            <a:solidFill>
              <a:srgbClr val="10b981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6"/>
          <p:cNvSpPr/>
          <p:nvPr/>
        </p:nvSpPr>
        <p:spPr>
          <a:xfrm>
            <a:off x="1005840" y="269748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Soumettre l'URL du dépôt via le formulaire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17"/>
          <p:cNvSpPr/>
          <p:nvPr/>
        </p:nvSpPr>
        <p:spPr>
          <a:xfrm>
            <a:off x="274320" y="3246120"/>
            <a:ext cx="410760" cy="410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18"/>
          <p:cNvSpPr/>
          <p:nvPr/>
        </p:nvSpPr>
        <p:spPr>
          <a:xfrm>
            <a:off x="274320" y="3246120"/>
            <a:ext cx="410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9"/>
          <p:cNvSpPr/>
          <p:nvPr/>
        </p:nvSpPr>
        <p:spPr>
          <a:xfrm>
            <a:off x="822960" y="3246120"/>
            <a:ext cx="8046000" cy="410760"/>
          </a:xfrm>
          <a:prstGeom prst="roundRect">
            <a:avLst>
              <a:gd name="adj" fmla="val 17778"/>
            </a:avLst>
          </a:prstGeom>
          <a:solidFill>
            <a:srgbClr val="1e293b"/>
          </a:solidFill>
          <a:ln w="12700">
            <a:solidFill>
              <a:srgbClr val="f59e0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20"/>
          <p:cNvSpPr/>
          <p:nvPr/>
        </p:nvSpPr>
        <p:spPr>
          <a:xfrm>
            <a:off x="1005840" y="3246120"/>
            <a:ext cx="7771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f1f5f9"/>
                </a:solidFill>
                <a:latin typeface="Calibri"/>
              </a:rPr>
              <a:t>Activer le webhook GitHub pour les mises à jour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21"/>
          <p:cNvSpPr/>
          <p:nvPr/>
        </p:nvSpPr>
        <p:spPr>
          <a:xfrm>
            <a:off x="274320" y="3840480"/>
            <a:ext cx="8594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Versioning Sémantique  (SemVer)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22"/>
          <p:cNvSpPr/>
          <p:nvPr/>
        </p:nvSpPr>
        <p:spPr>
          <a:xfrm>
            <a:off x="274320" y="4251960"/>
            <a:ext cx="8594640" cy="173160"/>
          </a:xfrm>
          <a:prstGeom prst="roundRect">
            <a:avLst>
              <a:gd name="adj" fmla="val 26316"/>
            </a:avLst>
          </a:prstGeom>
          <a:solidFill>
            <a:srgbClr val="1e293b"/>
          </a:solidFill>
          <a:ln w="12700">
            <a:solidFill>
              <a:srgbClr val="10b981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3"/>
          <p:cNvSpPr/>
          <p:nvPr/>
        </p:nvSpPr>
        <p:spPr>
          <a:xfrm>
            <a:off x="411480" y="4251960"/>
            <a:ext cx="1828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0b981"/>
                </a:solidFill>
                <a:latin typeface="Courier New"/>
                <a:ea typeface="Courier New"/>
              </a:rPr>
              <a:t>^1.2.3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 24"/>
          <p:cNvSpPr/>
          <p:nvPr/>
        </p:nvSpPr>
        <p:spPr>
          <a:xfrm>
            <a:off x="2286000" y="4251960"/>
            <a:ext cx="6400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Autorise  ≥1.2.3  et  &lt;2.0.0  (compatibilité majeure)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Shape 25"/>
          <p:cNvSpPr/>
          <p:nvPr/>
        </p:nvSpPr>
        <p:spPr>
          <a:xfrm>
            <a:off x="274320" y="4453200"/>
            <a:ext cx="8594640" cy="173160"/>
          </a:xfrm>
          <a:prstGeom prst="roundRect">
            <a:avLst>
              <a:gd name="adj" fmla="val 26316"/>
            </a:avLst>
          </a:prstGeom>
          <a:solidFill>
            <a:srgbClr val="1e293b"/>
          </a:solidFill>
          <a:ln w="12700">
            <a:solidFill>
              <a:srgbClr val="1d4ed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26"/>
          <p:cNvSpPr/>
          <p:nvPr/>
        </p:nvSpPr>
        <p:spPr>
          <a:xfrm>
            <a:off x="411480" y="4453200"/>
            <a:ext cx="1828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d4ed8"/>
                </a:solidFill>
                <a:latin typeface="Courier New"/>
                <a:ea typeface="Courier New"/>
              </a:rPr>
              <a:t>~1.2.3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7"/>
          <p:cNvSpPr/>
          <p:nvPr/>
        </p:nvSpPr>
        <p:spPr>
          <a:xfrm>
            <a:off x="2286000" y="4453200"/>
            <a:ext cx="6400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Autorise  ≥1.2.3  et  &lt;1.3.0  (compatibilité mineure)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28"/>
          <p:cNvSpPr/>
          <p:nvPr/>
        </p:nvSpPr>
        <p:spPr>
          <a:xfrm>
            <a:off x="274320" y="4654440"/>
            <a:ext cx="8594640" cy="173160"/>
          </a:xfrm>
          <a:prstGeom prst="roundRect">
            <a:avLst>
              <a:gd name="adj" fmla="val 26316"/>
            </a:avLst>
          </a:prstGeom>
          <a:solidFill>
            <a:srgbClr val="1e293b"/>
          </a:solidFill>
          <a:ln w="12700">
            <a:solidFill>
              <a:srgbClr val="f59e0b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29"/>
          <p:cNvSpPr/>
          <p:nvPr/>
        </p:nvSpPr>
        <p:spPr>
          <a:xfrm>
            <a:off x="411480" y="4654440"/>
            <a:ext cx="1828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59e0b"/>
                </a:solidFill>
                <a:latin typeface="Courier New"/>
                <a:ea typeface="Courier New"/>
              </a:rPr>
              <a:t>1.2.*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 30"/>
          <p:cNvSpPr/>
          <p:nvPr/>
        </p:nvSpPr>
        <p:spPr>
          <a:xfrm>
            <a:off x="2286000" y="4654440"/>
            <a:ext cx="6400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Toute version  1.2.x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31"/>
          <p:cNvSpPr/>
          <p:nvPr/>
        </p:nvSpPr>
        <p:spPr>
          <a:xfrm>
            <a:off x="274320" y="4855320"/>
            <a:ext cx="8594640" cy="173160"/>
          </a:xfrm>
          <a:prstGeom prst="roundRect">
            <a:avLst>
              <a:gd name="adj" fmla="val 26316"/>
            </a:avLst>
          </a:prstGeom>
          <a:solidFill>
            <a:srgbClr val="1e293b"/>
          </a:solidFill>
          <a:ln w="12700">
            <a:solidFill>
              <a:srgbClr val="7c3aed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32"/>
          <p:cNvSpPr/>
          <p:nvPr/>
        </p:nvSpPr>
        <p:spPr>
          <a:xfrm>
            <a:off x="411480" y="4855320"/>
            <a:ext cx="1828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c3aed"/>
                </a:solidFill>
                <a:latin typeface="Courier New"/>
                <a:ea typeface="Courier New"/>
              </a:rPr>
              <a:t>&gt;=1.0 &lt;2.0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33"/>
          <p:cNvSpPr/>
          <p:nvPr/>
        </p:nvSpPr>
        <p:spPr>
          <a:xfrm>
            <a:off x="2286000" y="4855320"/>
            <a:ext cx="640008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1f5f9"/>
                </a:solidFill>
                <a:latin typeface="Calibri"/>
              </a:rPr>
              <a:t>Intervalle explicite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5943600" y="-457200"/>
            <a:ext cx="4571280" cy="4571280"/>
          </a:xfrm>
          <a:prstGeom prst="ellipse">
            <a:avLst/>
          </a:prstGeom>
          <a:solidFill>
            <a:srgbClr val="1d4ed8">
              <a:alpha val="12000"/>
            </a:srgbClr>
          </a:solidFill>
          <a:ln w="12700">
            <a:solidFill>
              <a:srgbClr val="1d4ed8">
                <a:alpha val="1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1"/>
          <p:cNvSpPr/>
          <p:nvPr/>
        </p:nvSpPr>
        <p:spPr>
          <a:xfrm>
            <a:off x="-914400" y="2743200"/>
            <a:ext cx="3656880" cy="365688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1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457200" y="228600"/>
            <a:ext cx="8228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</a:rPr>
              <a:t>Récapitulatif</a:t>
            </a:r>
            <a:endParaRPr b="0" lang="fr-FR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457200" y="82296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94a3b8"/>
                </a:solidFill>
                <a:latin typeface="Calibri"/>
              </a:rPr>
              <a:t>Ce qu'on a vu ensemble aujourd'hui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320040" y="1371600"/>
            <a:ext cx="4159800" cy="15994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1d4ed8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5"/>
          <p:cNvSpPr/>
          <p:nvPr/>
        </p:nvSpPr>
        <p:spPr>
          <a:xfrm>
            <a:off x="457200" y="1554480"/>
            <a:ext cx="547920" cy="54792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457200" y="15544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A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1143000" y="1554480"/>
            <a:ext cx="3199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Fonctions Anonymes / Arrow / Closures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502920" y="2176200"/>
            <a:ext cx="3839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Sans nom · use() pour capturer · fn() syntaxe courte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Shape 9"/>
          <p:cNvSpPr/>
          <p:nvPr/>
        </p:nvSpPr>
        <p:spPr>
          <a:xfrm>
            <a:off x="4800600" y="1371600"/>
            <a:ext cx="4159800" cy="15994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4937760" y="1554480"/>
            <a:ext cx="547920" cy="547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4937760" y="155448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B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5623560" y="1554480"/>
            <a:ext cx="3199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Fonctions natives array_*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4983480" y="2176200"/>
            <a:ext cx="3839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map · filter · reduce · usort · merge · chunk…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320040" y="3154680"/>
            <a:ext cx="4159800" cy="15994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Shape 15"/>
          <p:cNvSpPr/>
          <p:nvPr/>
        </p:nvSpPr>
        <p:spPr>
          <a:xfrm>
            <a:off x="457200" y="3337560"/>
            <a:ext cx="547920" cy="547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457200" y="333756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C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1143000" y="3337560"/>
            <a:ext cx="3199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Composer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18"/>
          <p:cNvSpPr/>
          <p:nvPr/>
        </p:nvSpPr>
        <p:spPr>
          <a:xfrm>
            <a:off x="502920" y="3959280"/>
            <a:ext cx="3839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composer.json · require · install · autoload PSR-4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4800600" y="3154680"/>
            <a:ext cx="4159800" cy="15994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0ea5e9">
                <a:alpha val="60000"/>
              </a:srgbClr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Shape 20"/>
          <p:cNvSpPr/>
          <p:nvPr/>
        </p:nvSpPr>
        <p:spPr>
          <a:xfrm>
            <a:off x="4937760" y="3337560"/>
            <a:ext cx="547920" cy="54792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4937760" y="333756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D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22"/>
          <p:cNvSpPr/>
          <p:nvPr/>
        </p:nvSpPr>
        <p:spPr>
          <a:xfrm>
            <a:off x="5623560" y="3337560"/>
            <a:ext cx="31996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Packagist.org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4983480" y="3959280"/>
            <a:ext cx="38397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94a3b8"/>
                </a:solidFill>
                <a:latin typeface="Calibri"/>
              </a:rPr>
              <a:t>380k+ packages · SemVer · publier un package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457200" y="477324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</a:rPr>
              <a:t>Merci pour votre attention !  —  Questions ?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2026-06-28T00:14:58Z</dcterms:created>
  <dc:creator>Coach Thiam — Sonatel Academy</dc:creator>
  <dc:description/>
  <dc:language>fr-FR</dc:language>
  <cp:lastModifiedBy/>
  <dcterms:modified xsi:type="dcterms:W3CDTF">2026-06-28T16:11:26Z</dcterms:modified>
  <cp:revision>3</cp:revision>
  <dc:subject>PptxGenJS Presentation</dc:subject>
  <dc:title>PHP Avancé — Fonctions, Tableaux, Composer &amp; Packagist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